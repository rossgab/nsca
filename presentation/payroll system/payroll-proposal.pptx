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retainer billing frequency and exact payroll coverage have not been confirmed. Do not describe it as a monthly fee. Defect corrections are distinct from requested custom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Retainer frequency is deliberately unspecified. The one-time purchase grants company use, not source-code ownership. Do not promise unlimited changes or free hosting. Proposed scope is subject to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Your payroll. Your choice.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A company-specific system with two ways to invest.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PURCHASE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₱350,000 project price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Permanent use by one company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 updates under the existing ₱10,000 retainer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₱35,000 setup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₱85 per active employee / month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Requested changes priced separately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Bring payroll preparation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Help HR move from scattered inputs to reviewed, approved 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 CONNECTED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Employee records and pay rates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Attendance, leave and deductions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Accepted driver-task earnings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CLEARER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Trace how each pay amount was calculated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Review before finalization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Issue payslips and retain payroll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Four parts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700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Proposed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918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3558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Employees, semi-monthly payroll, deductions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977639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416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Browser attendance, hours, lateness and HR corrections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10972800" cy="66294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274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274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Eligible completions, task rates and payment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349240"/>
            <a:ext cx="10972800" cy="66294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132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Deployment &amp;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413248"/>
            <a:ext cx="7452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Setup, initial data assistance and HR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t>Company policies and statutory calculations are validated with HR/accounting before acceptance.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The difference: how changes are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Both options deliver the requirements agreed at the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ONE-TIME + EXISTING RETAINER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Agreed project changes are implemented within the approved scope.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 adjustments and updates are included within the ₱10,000 retainer coverage.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MONTHLY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Requested customizations, workflow changes and additional features receive a separate quotation.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Work begins after the quotation is approved.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1 — Invest once for permanent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₱350,000 project price • No recurring per-employee software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LONG-TERM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Permanent use by one company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Software fee stays fixed as the workforce grows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Payments follow delivery milestones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CHANGES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90-day defect warranty after acceptance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 updates under the existing ₱10,000 retainer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Major enhancements quoted separately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What the ₱350,000 project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7004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72968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Payroll &amp; HR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36976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₱280,000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39896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Time-in / Time-out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80390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Driver-task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370832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₱40,000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873752"/>
            <a:ext cx="10972800" cy="54406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Deployment, training &amp;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937760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972800" cy="54406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04688"/>
            <a:ext cx="8001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TOTAL PROJECT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5504688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B8C7D8"/>
                </a:solidFill>
                <a:latin typeface="Aptos"/>
              </a:defRPr>
            </a:pPr>
            <a:r>
              <a:t>The ₱10,000 deployment allocation is separate from the existing ₱10,000 retainer.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Option 2 — Start with a smaller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₱35,000 setup + ₱85 per active employee/month • ₱3,000 monthly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6700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42D6B1"/>
                </a:solidFill>
                <a:latin typeface="Aptos"/>
              </a:defRPr>
            </a:pPr>
            <a:r>
              <a:t>First year incl.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0896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1729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₱71,000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₱4,250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75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₱86,000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1480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17880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₱137,000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617720"/>
            <a:ext cx="10972800" cy="48006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₱17,000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817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₱239,000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20640"/>
            <a:ext cx="10972800" cy="480060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₱25,500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1846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₱341,000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8C7D8"/>
                </a:solidFill>
                <a:latin typeface="Aptos"/>
              </a:defRPr>
            </a:pPr>
            <a:r>
              <a:t>Assumes 12 months and a constant headcount. Each active person is counted once per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Monthly service and requested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INCLUDED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Software access while subscribed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Payroll hosting and backups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Standard support and defect corrections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Routine updates for supported statutory calculations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SEPARATE QUOTATION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Custom reports and workflow changes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Additional features and integrations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Company-specific calculation changes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Biometric devices and paid external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B8C7D8"/>
                </a:solidFill>
                <a:latin typeface="Aptos"/>
              </a:defRPr>
            </a:pPr>
            <a:r>
              <a:t>Service limits and update coverage will be defined in the agreement.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Delivery milestones for the one-time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70048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70048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2D6B1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64408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Commencement &amp; requirements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28416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328416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22776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86784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Core HR, attendance &amp; payroll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8678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986784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81144"/>
            <a:ext cx="10972800" cy="635508"/>
          </a:xfrm>
          <a:prstGeom prst="roundRect">
            <a:avLst/>
          </a:prstGeom>
          <a:solidFill>
            <a:srgbClr val="10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45152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Integration &amp; user acceptance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45152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645152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₱105,000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239512"/>
            <a:ext cx="10972800" cy="635508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7086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Deployment &amp; final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303520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303520"/>
            <a:ext cx="2057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₱35,000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B8C7D8"/>
                </a:solidFill>
                <a:latin typeface="Aptos"/>
              </a:defRPr>
            </a:pPr>
            <a:r>
              <a:t>Monthly option: setup payable at commencement; subscription starts at production activation.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2D6B1"/>
                </a:solidFill>
                <a:latin typeface="Aptos"/>
              </a:defRPr>
            </a:pPr>
            <a:r>
              <a:t>PAYROLL  /  ATTENDANCE  /  DRIVER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Agree the details. Validate.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B8C7D8"/>
                </a:solidFill>
                <a:latin typeface="Aptos"/>
              </a:defRPr>
            </a:pPr>
            <a:r>
              <a:t>Confirm the scope and payment model with HR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8C7D8"/>
                </a:solidFill>
                <a:latin typeface="Aptos"/>
              </a:defRPr>
            </a:pPr>
            <a:r>
              <a:t>PROPOSED SCOPE &amp; COMMERCIAL TERMS  •  FOR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916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42D6B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DECISIONS TO CONFIRM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Payroll policies and employee count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Minor-update limits and retainer coverage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Hosting and backup responsibilities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Schedule and 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349240" cy="3383280"/>
          </a:xfrm>
          <a:prstGeom prst="roundRect">
            <a:avLst/>
          </a:prstGeom>
          <a:solidFill>
            <a:srgbClr val="1C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42D6B1"/>
                </a:solidFill>
                <a:latin typeface="Aptos"/>
              </a:defRPr>
            </a:pPr>
            <a:r>
              <a:t>COMMERCIAL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2044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Major changes quoted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One-time hosting costs funded separately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Developer retains reusable source code</a:t>
            </a:r>
          </a:p>
          <a:p>
            <a:pPr>
              <a:spcAft>
                <a:spcPts val="12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Taxes and final terms confirmed in the quotation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