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895" autoAdjust="0"/>
  </p:normalViewPr>
  <p:slideViewPr>
    <p:cSldViewPr snapToGrid="0" snapToObjects="1">
      <p:cViewPr varScale="1">
        <p:scale>
          <a:sx n="72" d="100"/>
          <a:sy n="72" d="100"/>
        </p:scale>
        <p:origin x="828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52E9AB-124D-4999-AE5A-8E42D3955D0F}" type="datetimeFigureOut">
              <a:rPr lang="en-PH" smtClean="0"/>
              <a:t>10/10/2026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AF1559-6F4D-4037-B1E3-4E5B08F7DD5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98382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Formula: PHP </a:t>
            </a:r>
            <a:r>
              <a:rPr lang="en-PH" dirty="0"/>
              <a:t>5</a:t>
            </a:r>
            <a:r>
              <a:rPr dirty="0"/>
              <a:t>5,000 + max(PHP 3,000, employee count × PHP 85) × 12 × years. These are cumulative subscription totals, not annual prepaid packages.</a:t>
            </a:r>
            <a:endParaRPr lang="en-PH" dirty="0"/>
          </a:p>
          <a:p>
            <a:endParaRPr lang="en-PH" dirty="0"/>
          </a:p>
          <a:p>
            <a:r>
              <a:rPr lang="en-PH" dirty="0"/>
              <a:t>Custom software ranges from 56 to 450 per employee per month</a:t>
            </a:r>
          </a:p>
          <a:p>
            <a:r>
              <a:rPr lang="en-PH" dirty="0"/>
              <a:t>Fully managed outsource is 200 to 1500 per month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Payroll, attendance &amp; driver earnings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1907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B8C7D8"/>
                </a:solidFill>
                <a:latin typeface="Aptos"/>
              </a:defRPr>
            </a:pPr>
            <a:r>
              <a:t>A proposed system tailored to your company’s payroll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SYSTEM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Payroll and employee records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Attendance and leave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Driver-task earnings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HR review, </a:t>
            </a:r>
            <a:r>
              <a:rPr dirty="0" err="1"/>
              <a:t>payslips</a:t>
            </a:r>
            <a:r>
              <a:rPr dirty="0"/>
              <a:t> and reports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TODAY’S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What the system will cover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Implementation and ongoing services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Payment options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Monthly costs over 1, 2, 3 and 5 years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rPr dirty="0"/>
              <a:t>Bring payroll preparation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1907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B8C7D8"/>
                </a:solidFill>
                <a:latin typeface="Aptos"/>
              </a:defRPr>
            </a:pPr>
            <a:r>
              <a:t>Help HR move from scattered inputs to reviewed, approved pay.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ONE CONNECTED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40"/>
            <a:ext cx="4892040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Employee records and pay rates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Attendance, leave and deductions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lang="en-PH" dirty="0"/>
              <a:t>Integration of</a:t>
            </a:r>
            <a:r>
              <a:rPr dirty="0"/>
              <a:t> driver-task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CLEARER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Trace how each pay amount was calculated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Review before finalization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Issue </a:t>
            </a:r>
            <a:r>
              <a:rPr dirty="0" err="1"/>
              <a:t>payslips</a:t>
            </a:r>
            <a:r>
              <a:rPr dirty="0"/>
              <a:t> and retain payroll history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Four parts of the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606040"/>
            <a:ext cx="10972800" cy="66294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670048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42D6B1"/>
                </a:solidFill>
                <a:latin typeface="Aptos"/>
              </a:defRPr>
            </a:pPr>
            <a:r>
              <a:t>Component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670048"/>
            <a:ext cx="7452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42D6B1"/>
                </a:solidFill>
                <a:latin typeface="Aptos"/>
              </a:defRPr>
            </a:pPr>
            <a:r>
              <a:t>Proposed 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291840"/>
            <a:ext cx="10972800" cy="662940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355848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Payroll &amp; HR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355848"/>
            <a:ext cx="7452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rPr dirty="0"/>
              <a:t>Employees, semi-monthly payroll, deductions and reports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977639"/>
            <a:ext cx="10972800" cy="66294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4041648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Time-in / Time-out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041648"/>
            <a:ext cx="7452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rPr dirty="0"/>
              <a:t>Browser attendance, hours, lateness and HR corrections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663440"/>
            <a:ext cx="10972800" cy="662940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727448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Driver-task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4727448"/>
            <a:ext cx="7452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Eligible completions, task rates and payment checks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5349240"/>
            <a:ext cx="10972800" cy="66294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5413248"/>
            <a:ext cx="306324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rPr dirty="0"/>
              <a:t>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5413248"/>
            <a:ext cx="7452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Setup, initial data assistance and HR documentation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235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B8C7D8"/>
                </a:solidFill>
                <a:latin typeface="Aptos"/>
              </a:defRPr>
            </a:pPr>
            <a:r>
              <a:rPr dirty="0"/>
              <a:t>Company policies and statutory calculations are validated with HR/accounting before acceptance.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Payroll &amp; HR — proposed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rPr dirty="0"/>
              <a:t>EMPLOYEE &amp; PAYROLL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Employee profiles and pay rates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Semi-monthly payroll processing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Allowances, incentives and deductions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Loans and cash advances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CALCULATIONS &amp;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Government contributions and tax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Overtime, premiums and night pay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13th-month and final-pay preparation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Approvals, </a:t>
            </a:r>
            <a:r>
              <a:rPr dirty="0" err="1"/>
              <a:t>payslips</a:t>
            </a:r>
            <a:r>
              <a:rPr dirty="0"/>
              <a:t> and reports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1675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B8C7D8"/>
                </a:solidFill>
                <a:latin typeface="Aptos"/>
              </a:defRPr>
            </a:pPr>
            <a:r>
              <a:t>Calculation policies and acceptance examples are agreed with HR/accounting.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Attendance &amp; driver earnings — proposed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rPr dirty="0"/>
              <a:t>ATTENDANCE &amp; LEAVE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489204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Browser-based time-in / time-out</a:t>
            </a:r>
            <a:r>
              <a:rPr lang="en-PH" dirty="0"/>
              <a:t> / Integration of current time in and out to the system</a:t>
            </a:r>
            <a:endParaRPr dirty="0"/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Hours, lateness and undertime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Schedules, holidays and leave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HR corrections before payroll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DRIVER EARNINGS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Match drivers to payroll employees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Use eligible accepted completions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Apply agreed task rates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Prevent duplicate task payments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What else is covered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489204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Requirements and policy confirmation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Configuration and initial data assistance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Payroll and integration validation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Deployment, HR </a:t>
            </a:r>
            <a:r>
              <a:rPr lang="en-PH" dirty="0"/>
              <a:t>support </a:t>
            </a:r>
            <a:r>
              <a:rPr dirty="0"/>
              <a:t>and guides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RECORDS &amp; CONTROLS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Authorized user roles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Audit history for payroll changes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Protected finalized payroll records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Task reconciliation and data exports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System inclusions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91656"/>
            <a:ext cx="548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rPr lang="en-PH" dirty="0"/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38528"/>
            <a:ext cx="5349240" cy="3044289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193503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rPr dirty="0"/>
              <a:t>PAYROLL &amp; ATTENDANCE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97591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sz="1700" dirty="0"/>
              <a:t>Employee records &amp; payroll — Maintain employee details and calculate semi-monthly pay.</a:t>
            </a:r>
          </a:p>
          <a:p>
            <a:pPr>
              <a:spcAft>
                <a:spcPts val="10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sz="1700" dirty="0"/>
              <a:t>Contributions &amp; tax — Calculate SSS, PhilHealth, Pag-IBIG and withholding tax.</a:t>
            </a:r>
          </a:p>
          <a:p>
            <a:pPr>
              <a:spcAft>
                <a:spcPts val="10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sz="1700" dirty="0"/>
              <a:t>Attendance &amp; leave — Record time-in/out, worked hours and leave for HR 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38528"/>
            <a:ext cx="5349240" cy="3044289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193503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rPr dirty="0"/>
              <a:t>EARNINGS, REPORTS &amp;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897591"/>
            <a:ext cx="4892040" cy="25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sz="1700" dirty="0"/>
              <a:t>Driver-task earnings — Credit eligible completed tasks at agreed rates and prevent duplicate payments.</a:t>
            </a:r>
          </a:p>
          <a:p>
            <a:pPr>
              <a:spcAft>
                <a:spcPts val="10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sz="1700" dirty="0"/>
              <a:t>Payslips &amp; reports — Issue pay breakdowns, payroll summaries and task reconciliation.</a:t>
            </a:r>
          </a:p>
          <a:p>
            <a:pPr>
              <a:spcAft>
                <a:spcPts val="10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sz="1700" dirty="0"/>
              <a:t>Setup — Configure and deploy the system, assist data setup and provide guides.</a:t>
            </a:r>
            <a:endParaRPr lang="en-PH" sz="1700" dirty="0"/>
          </a:p>
          <a:p>
            <a:pPr>
              <a:spcAft>
                <a:spcPts val="10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endParaRPr sz="1700" dirty="0"/>
          </a:p>
        </p:txBody>
      </p:sp>
      <p:sp>
        <p:nvSpPr>
          <p:cNvPr id="12" name="Scope boundaries"/>
          <p:cNvSpPr txBox="1"/>
          <p:nvPr/>
        </p:nvSpPr>
        <p:spPr>
          <a:xfrm>
            <a:off x="685800" y="5966460"/>
            <a:ext cx="10789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rPr dirty="0"/>
              <a:t>Deployment. Import volume, sessions, reports and retainer limits agreed before launch.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20DFDC-932A-42B3-6566-388CFFE5FB30}"/>
              </a:ext>
            </a:extLst>
          </p:cNvPr>
          <p:cNvSpPr txBox="1"/>
          <p:nvPr/>
        </p:nvSpPr>
        <p:spPr>
          <a:xfrm>
            <a:off x="594360" y="5150133"/>
            <a:ext cx="108813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lang="en-PH" sz="1700" b="1" dirty="0"/>
              <a:t>Other features that needs to be included that is not mentioned on this presentation.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Service coverage by payment 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91656"/>
            <a:ext cx="548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rPr dirty="0"/>
              <a:t>0</a:t>
            </a:r>
            <a:r>
              <a:rPr lang="en-PH" dirty="0"/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ONE-TIME PURCHASE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489204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Minor updates </a:t>
            </a:r>
            <a:r>
              <a:rPr lang="en-PH" dirty="0"/>
              <a:t>and support </a:t>
            </a:r>
            <a:r>
              <a:rPr dirty="0"/>
              <a:t>within existing retainer terms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lang="en-PH" dirty="0"/>
              <a:t>Data and </a:t>
            </a:r>
            <a:r>
              <a:rPr dirty="0"/>
              <a:t>Hosting funded separately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Major enhancements quoted separately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MONTHLY SUBSCRIPTION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520440"/>
            <a:ext cx="489204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Data and Hosting funded separately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Standard support and defect corrections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Routine supported statutory updates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Requested custom changes billed separately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16752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B8C7D8"/>
                </a:solidFill>
                <a:latin typeface="Aptos"/>
              </a:defRPr>
            </a:pPr>
            <a:r>
              <a:rPr dirty="0"/>
              <a:t>external service fees and new integrations are separately quoted.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The difference: how changes are covered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1907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B8C7D8"/>
                </a:solidFill>
                <a:latin typeface="Aptos"/>
              </a:defRPr>
            </a:pPr>
            <a:r>
              <a:t>Both options deliver the requirements agreed at the start.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91656"/>
            <a:ext cx="548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rPr dirty="0"/>
              <a:t>0</a:t>
            </a:r>
            <a:r>
              <a:rPr lang="en-PH" dirty="0"/>
              <a:t>9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594360" y="2133600"/>
            <a:ext cx="5349240" cy="385572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22960" y="231277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ONE-TIME + EXISTING RETAINER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6860"/>
            <a:ext cx="489204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Agreed project changes are implemented within the approved scope.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Minor adjustments and updates are included within the ₱10,000 retainer coverage</a:t>
            </a:r>
            <a:r>
              <a:rPr lang="en-PH" dirty="0"/>
              <a:t> + ₱1,000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33600"/>
            <a:ext cx="5349240" cy="385572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231277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MONTHLY SUBSCRIPTION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016860"/>
            <a:ext cx="489204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Requested customizations, workflow changes and additional features receive a separate quotation.</a:t>
            </a:r>
            <a:endParaRPr lang="en-PH" dirty="0"/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Work begins after the quotation is approved.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Option 1 — Invest once for permanent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1907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B8C7D8"/>
                </a:solidFill>
                <a:latin typeface="Aptos"/>
              </a:defRPr>
            </a:pPr>
            <a:r>
              <a:t>₱320,000 project price • No recurring per-employee software fee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91656"/>
            <a:ext cx="548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rPr lang="en-PH" dirty="0"/>
              <a:t>10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59436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LONG-TERM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40"/>
            <a:ext cx="489204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Permanent use by </a:t>
            </a:r>
            <a:r>
              <a:rPr lang="en-PH" dirty="0"/>
              <a:t>NSCA</a:t>
            </a:r>
            <a:endParaRPr dirty="0"/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Software fee stays fixed as the workforce grows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Payments follow delivery milestones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CHANGES &amp;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520440"/>
            <a:ext cx="4892040" cy="121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Minor updates under the existing ₱10,000 retainer</a:t>
            </a:r>
            <a:r>
              <a:rPr lang="en-PH" dirty="0"/>
              <a:t> + ₱ 1,000</a:t>
            </a:r>
            <a:endParaRPr dirty="0"/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Major enhancements quoted separately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What the ₱320,000 project covers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91656"/>
            <a:ext cx="548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rPr dirty="0"/>
              <a:t>1</a:t>
            </a:r>
            <a:r>
              <a:rPr lang="en-PH" dirty="0"/>
              <a:t>1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594360" y="2606040"/>
            <a:ext cx="10972800" cy="544068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670048"/>
            <a:ext cx="8001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42D6B1"/>
                </a:solidFill>
                <a:latin typeface="Aptos"/>
              </a:defRPr>
            </a:pPr>
            <a:r>
              <a:t>Component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2670048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42D6B1"/>
                </a:solidFill>
                <a:latin typeface="Aptos"/>
              </a:defRPr>
            </a:pPr>
            <a:r>
              <a:t>Amount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172968"/>
            <a:ext cx="10972800" cy="544068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236976"/>
            <a:ext cx="8001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Payroll &amp; HR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3236976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₱250,000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739896"/>
            <a:ext cx="10972800" cy="544068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803904"/>
            <a:ext cx="8001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Time-in / Time-out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803904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₱20,000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306824"/>
            <a:ext cx="10972800" cy="544068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370832"/>
            <a:ext cx="8001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Driver-task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4370832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₱50,000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873752"/>
            <a:ext cx="10972800" cy="544068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937760"/>
            <a:ext cx="8001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Deployment, training &amp; documentation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4937760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Included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440680"/>
            <a:ext cx="10972800" cy="544068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504688"/>
            <a:ext cx="8001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TOTAL PROJECT PRICE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5504688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₱320,000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715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B8C7D8"/>
                </a:solidFill>
                <a:latin typeface="Aptos"/>
              </a:defRPr>
            </a:pPr>
            <a:r>
              <a:t>Deployment, training and documentation are included. Existing retainer terms are separate.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Option 2 — Start with a smaller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19072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B8C7D8"/>
                </a:solidFill>
                <a:latin typeface="Aptos"/>
              </a:defRPr>
            </a:pPr>
            <a:r>
              <a:rPr dirty="0"/>
              <a:t>₱</a:t>
            </a:r>
            <a:r>
              <a:rPr lang="en-PH" dirty="0"/>
              <a:t>50</a:t>
            </a:r>
            <a:r>
              <a:rPr dirty="0"/>
              <a:t>,000 setup + ₱85 per active employee/month • ₱3,000 monthly minimum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91656"/>
            <a:ext cx="548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rPr dirty="0"/>
              <a:t>1</a:t>
            </a:r>
            <a:r>
              <a:rPr lang="en-PH" dirty="0"/>
              <a:t>2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594360" y="2606040"/>
            <a:ext cx="10972800" cy="48006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6700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42D6B1"/>
                </a:solidFill>
                <a:latin typeface="Aptos"/>
              </a:defRPr>
            </a:pPr>
            <a:r>
              <a:t>Active employees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6700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42D6B1"/>
                </a:solidFill>
                <a:latin typeface="Aptos"/>
              </a:defRPr>
            </a:pPr>
            <a:r>
              <a:t>Monthly fee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6700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42D6B1"/>
                </a:solidFill>
                <a:latin typeface="Aptos"/>
              </a:defRPr>
            </a:pPr>
            <a:r>
              <a:t>First year incl. setup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108960"/>
            <a:ext cx="10972800" cy="480060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17296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17296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₱3,000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17296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₱71,000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611880"/>
            <a:ext cx="10972800" cy="48006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67588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67588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₱4,250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67588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₱86,000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114800"/>
            <a:ext cx="10972800" cy="480060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17880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17880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₱8,500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17880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₱137,000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617720"/>
            <a:ext cx="10972800" cy="48006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468172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68172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₱17,000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68172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₱239,000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5120640"/>
            <a:ext cx="10972800" cy="480060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51846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300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1846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₱25,500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51846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₱341,000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715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B8C7D8"/>
                </a:solidFill>
                <a:latin typeface="Aptos"/>
              </a:defRPr>
            </a:pPr>
            <a:r>
              <a:t>Assumes 12 months and a constant headcount. Each active person is counted once per month.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Monthly plan — costs over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19072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B8C7D8"/>
                </a:solidFill>
                <a:latin typeface="Aptos"/>
              </a:defRPr>
            </a:pPr>
            <a:r>
              <a:rPr dirty="0"/>
              <a:t>Totals include the ₱</a:t>
            </a:r>
            <a:r>
              <a:rPr lang="en-PH" dirty="0"/>
              <a:t>50</a:t>
            </a:r>
            <a:r>
              <a:rPr dirty="0"/>
              <a:t>,000 setup fee once, plus monthly subscription payments.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91656"/>
            <a:ext cx="548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rPr dirty="0"/>
              <a:t>1</a:t>
            </a:r>
            <a:r>
              <a:rPr lang="en-PH" dirty="0"/>
              <a:t>3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594360" y="2606040"/>
            <a:ext cx="10972800" cy="48006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67004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2D6B1"/>
                </a:solidFill>
                <a:latin typeface="Aptos"/>
              </a:defRPr>
            </a:pPr>
            <a:r>
              <a:t>Employees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6700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2D6B1"/>
                </a:solidFill>
                <a:latin typeface="Aptos"/>
              </a:defRPr>
            </a:pPr>
            <a:r>
              <a:t>1 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26700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2D6B1"/>
                </a:solidFill>
                <a:latin typeface="Aptos"/>
              </a:defRPr>
            </a:pPr>
            <a:r>
              <a:t>2 years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6700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2D6B1"/>
                </a:solidFill>
                <a:latin typeface="Aptos"/>
              </a:defRPr>
            </a:pPr>
            <a:r>
              <a:t>3 years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26700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2D6B1"/>
                </a:solidFill>
                <a:latin typeface="Aptos"/>
              </a:defRPr>
            </a:pPr>
            <a:r>
              <a:t>5 years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108960"/>
            <a:ext cx="10972800" cy="480060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17296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1729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₱71,000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31729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₱107,000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31729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₱143,000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31729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₱215,000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611880"/>
            <a:ext cx="10972800" cy="48006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67588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67588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₱86,000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367588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₱137,000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67588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₱188,000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367588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₱290,000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114800"/>
            <a:ext cx="10972800" cy="480060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417880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100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1788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₱137,000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41788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₱239,000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41788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₱341,000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4040" y="41788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₱545,000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4617720"/>
            <a:ext cx="10972800" cy="48006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468172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200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46817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₱239,000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83480" y="46817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₱443,000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46817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₱647,000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40" y="46817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₱1,055,000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5120640"/>
            <a:ext cx="10972800" cy="480060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518464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300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51846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₱341,000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83480" y="51846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₱647,000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51846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₱953,000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64040" y="51846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₱1,565,000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56967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B8C7D8"/>
                </a:solidFill>
                <a:latin typeface="Aptos"/>
              </a:defRPr>
            </a:pPr>
            <a:r>
              <a:t>Assumes constant headcount and rate. Excludes custom changes, external fees and applicable taxes.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Delivery milestones for the one-time 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91656"/>
            <a:ext cx="548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rPr dirty="0"/>
              <a:t>1</a:t>
            </a:r>
            <a:r>
              <a:rPr lang="en-PH" dirty="0"/>
              <a:t>4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594360" y="2606040"/>
            <a:ext cx="10972800" cy="635508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670048"/>
            <a:ext cx="7086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2D6B1"/>
                </a:solidFill>
                <a:latin typeface="Aptos"/>
              </a:defRPr>
            </a:pPr>
            <a:r>
              <a:t>Milestone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670048"/>
            <a:ext cx="1143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2D6B1"/>
                </a:solidFill>
                <a:latin typeface="Aptos"/>
              </a:defRPr>
            </a:pPr>
            <a:r>
              <a:t>Share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2670048"/>
            <a:ext cx="2057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2D6B1"/>
                </a:solidFill>
                <a:latin typeface="Aptos"/>
              </a:defRPr>
            </a:pPr>
            <a:r>
              <a:t>Payment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264408"/>
            <a:ext cx="10972800" cy="635508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328416"/>
            <a:ext cx="7086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Commencement &amp; requirements approval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328416"/>
            <a:ext cx="1143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3328416"/>
            <a:ext cx="2057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₱96,000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922776"/>
            <a:ext cx="10972800" cy="635508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986784"/>
            <a:ext cx="7086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Core HR, attendance &amp; payroll demonstration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986784"/>
            <a:ext cx="1143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3986784"/>
            <a:ext cx="2057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₱96,000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581144"/>
            <a:ext cx="10972800" cy="635508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645152"/>
            <a:ext cx="7086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Integration &amp; user acceptance testing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645152"/>
            <a:ext cx="1143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30%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4645152"/>
            <a:ext cx="2057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₱96,000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239512"/>
            <a:ext cx="10972800" cy="635508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7086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Deployment &amp; final acceptance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5303520"/>
            <a:ext cx="1143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10%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5303520"/>
            <a:ext cx="2057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₱32,000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6235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B8C7D8"/>
                </a:solidFill>
                <a:latin typeface="Aptos"/>
              </a:defRPr>
            </a:pPr>
            <a:r>
              <a:t>Monthly option: setup payable at commencement; subscription starts at production activation.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Agree the details. Validate. Launch.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1907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B8C7D8"/>
                </a:solidFill>
                <a:latin typeface="Aptos"/>
              </a:defRPr>
            </a:pPr>
            <a:r>
              <a:t>Confirm the scope and payment model with HR and management.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91656"/>
            <a:ext cx="548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rPr dirty="0"/>
              <a:t>1</a:t>
            </a:r>
            <a:r>
              <a:rPr lang="en-PH" dirty="0"/>
              <a:t>5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59436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DECISIONS TO CONFIRM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40"/>
            <a:ext cx="4892040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Payroll policies and employee count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Minor</a:t>
            </a:r>
            <a:r>
              <a:rPr lang="en-PH" dirty="0"/>
              <a:t>/defect</a:t>
            </a:r>
            <a:r>
              <a:rPr dirty="0"/>
              <a:t>-update limits </a:t>
            </a:r>
            <a:r>
              <a:rPr lang="en-PH" dirty="0"/>
              <a:t>are covered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retainer coverage</a:t>
            </a:r>
            <a:r>
              <a:rPr lang="en-PH" dirty="0"/>
              <a:t> continues</a:t>
            </a:r>
            <a:endParaRPr dirty="0"/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Hosting and backup responsibilities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Schedule and acceptance criteria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4870</TotalTime>
  <Words>1246</Words>
  <Application>Microsoft Office PowerPoint</Application>
  <PresentationFormat>Widescreen</PresentationFormat>
  <Paragraphs>249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Ross Nitura</cp:lastModifiedBy>
  <cp:revision>4</cp:revision>
  <dcterms:created xsi:type="dcterms:W3CDTF">2013-01-27T09:14:16Z</dcterms:created>
  <dcterms:modified xsi:type="dcterms:W3CDTF">2026-10-12T13:35:44Z</dcterms:modified>
  <cp:category/>
</cp:coreProperties>
</file>