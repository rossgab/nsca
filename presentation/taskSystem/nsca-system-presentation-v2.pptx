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2"/>
    <p:sldId id="257" r:id="rId3"/>
    <p:sldId id="260" r:id="rId4"/>
    <p:sldId id="256" r:id="rId5"/>
    <p:sldId id="259" r:id="rId6"/>
    <p:sldId id="262" r:id="rId7"/>
    <p:sldId id="261" r:id="rId8"/>
    <p:sldId id="258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ADMIN, DRIVER &amp; TASK VIEWER · HIGH-LEVEL FLOW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900" b="1" dirty="0">
                <a:solidFill>
                  <a:srgbClr val="17283E"/>
                </a:solidFill>
                <a:latin typeface="Arial"/>
              </a:rPr>
              <a:t>High level Driver, Admin and Task Viewer Flow</a:t>
            </a:r>
            <a:endParaRPr lang="en-US" sz="2900" dirty="0"/>
          </a:p>
        </p:txBody>
      </p:sp>
      <p:sp>
        <p:nvSpPr>
          <p:cNvPr id="4" name="Shape 4"/>
          <p:cNvSpPr/>
          <p:nvPr/>
        </p:nvSpPr>
        <p:spPr>
          <a:xfrm>
            <a:off x="578874" y="203791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60" b="1" dirty="0">
                <a:solidFill>
                  <a:srgbClr val="007E80"/>
                </a:solidFill>
                <a:latin typeface="Arial"/>
              </a:rPr>
              <a:t>ADMIN FLOW</a:t>
            </a:r>
            <a:endParaRPr lang="en-US" sz="860" dirty="0"/>
          </a:p>
        </p:txBody>
      </p:sp>
      <p:sp>
        <p:nvSpPr>
          <p:cNvPr id="5" name="Shape 5"/>
          <p:cNvSpPr/>
          <p:nvPr/>
        </p:nvSpPr>
        <p:spPr>
          <a:xfrm>
            <a:off x="842870" y="2281575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578874" y="237685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Import tasks</a:t>
            </a:r>
            <a:endParaRPr lang="en-US" sz="1191"/>
          </a:p>
        </p:txBody>
      </p:sp>
      <p:sp>
        <p:nvSpPr>
          <p:cNvPr id="7" name="Shape 7"/>
          <p:cNvSpPr/>
          <p:nvPr/>
        </p:nvSpPr>
        <p:spPr>
          <a:xfrm>
            <a:off x="30234" y="2595421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Customer, location, and job details</a:t>
            </a:r>
            <a:endParaRPr lang="en-US" sz="926"/>
          </a:p>
        </p:txBody>
      </p:sp>
      <p:cxnSp>
        <p:nvCxnSpPr>
          <p:cNvPr id="8" name="Connector 8"/>
          <p:cNvCxnSpPr/>
          <p:nvPr/>
        </p:nvCxnSpPr>
        <p:spPr>
          <a:xfrm>
            <a:off x="2692318" y="2634651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9" name="Shape 9"/>
          <p:cNvSpPr/>
          <p:nvPr/>
        </p:nvSpPr>
        <p:spPr>
          <a:xfrm>
            <a:off x="3364844" y="2281575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0" name="Shape 10"/>
          <p:cNvSpPr/>
          <p:nvPr/>
        </p:nvSpPr>
        <p:spPr>
          <a:xfrm>
            <a:off x="3100848" y="237685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Assign drivers</a:t>
            </a:r>
            <a:endParaRPr lang="en-US" sz="1191"/>
          </a:p>
        </p:txBody>
      </p:sp>
      <p:sp>
        <p:nvSpPr>
          <p:cNvPr id="11" name="Shape 11"/>
          <p:cNvSpPr/>
          <p:nvPr/>
        </p:nvSpPr>
        <p:spPr>
          <a:xfrm>
            <a:off x="3100848" y="259542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Distribute the workload</a:t>
            </a:r>
            <a:endParaRPr lang="en-US" sz="926"/>
          </a:p>
        </p:txBody>
      </p:sp>
      <p:cxnSp>
        <p:nvCxnSpPr>
          <p:cNvPr id="12" name="Connector 12"/>
          <p:cNvCxnSpPr/>
          <p:nvPr/>
        </p:nvCxnSpPr>
        <p:spPr>
          <a:xfrm>
            <a:off x="5214292" y="2634651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13" name="Shape 13"/>
          <p:cNvSpPr/>
          <p:nvPr/>
        </p:nvSpPr>
        <p:spPr>
          <a:xfrm>
            <a:off x="5886818" y="2281575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4" name="Shape 14"/>
          <p:cNvSpPr/>
          <p:nvPr/>
        </p:nvSpPr>
        <p:spPr>
          <a:xfrm>
            <a:off x="5622822" y="237685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Monitor operations</a:t>
            </a:r>
            <a:endParaRPr lang="en-US" sz="1191"/>
          </a:p>
        </p:txBody>
      </p:sp>
      <p:sp>
        <p:nvSpPr>
          <p:cNvPr id="15" name="Shape 15"/>
          <p:cNvSpPr/>
          <p:nvPr/>
        </p:nvSpPr>
        <p:spPr>
          <a:xfrm>
            <a:off x="5622822" y="259542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Live map, graphs, and heatmap</a:t>
            </a:r>
            <a:endParaRPr lang="en-US" sz="926"/>
          </a:p>
        </p:txBody>
      </p:sp>
      <p:cxnSp>
        <p:nvCxnSpPr>
          <p:cNvPr id="16" name="Connector 16"/>
          <p:cNvCxnSpPr/>
          <p:nvPr/>
        </p:nvCxnSpPr>
        <p:spPr>
          <a:xfrm>
            <a:off x="7736266" y="2634651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17" name="Shape 17"/>
          <p:cNvSpPr/>
          <p:nvPr/>
        </p:nvSpPr>
        <p:spPr>
          <a:xfrm>
            <a:off x="8408792" y="2281575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8" name="Shape 18"/>
          <p:cNvSpPr/>
          <p:nvPr/>
        </p:nvSpPr>
        <p:spPr>
          <a:xfrm>
            <a:off x="8144796" y="237685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Review and report</a:t>
            </a:r>
            <a:endParaRPr lang="en-US" sz="1191"/>
          </a:p>
        </p:txBody>
      </p:sp>
      <p:sp>
        <p:nvSpPr>
          <p:cNvPr id="19" name="Shape 19"/>
          <p:cNvSpPr/>
          <p:nvPr/>
        </p:nvSpPr>
        <p:spPr>
          <a:xfrm>
            <a:off x="8144796" y="259542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Evidence, results, and exports</a:t>
            </a:r>
            <a:endParaRPr lang="en-US" sz="926"/>
          </a:p>
        </p:txBody>
      </p:sp>
      <p:sp>
        <p:nvSpPr>
          <p:cNvPr id="20" name="Shape 20"/>
          <p:cNvSpPr/>
          <p:nvPr/>
        </p:nvSpPr>
        <p:spPr>
          <a:xfrm>
            <a:off x="578874" y="385640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60" b="1">
                <a:solidFill>
                  <a:srgbClr val="007E80"/>
                </a:solidFill>
                <a:latin typeface="Arial"/>
              </a:rPr>
              <a:t>DRIVER FLOW</a:t>
            </a:r>
            <a:endParaRPr lang="en-US" sz="860"/>
          </a:p>
        </p:txBody>
      </p:sp>
      <p:sp>
        <p:nvSpPr>
          <p:cNvPr id="21" name="Shape 21"/>
          <p:cNvSpPr/>
          <p:nvPr/>
        </p:nvSpPr>
        <p:spPr>
          <a:xfrm>
            <a:off x="842870" y="4215089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22" name="Shape 22"/>
          <p:cNvSpPr/>
          <p:nvPr/>
        </p:nvSpPr>
        <p:spPr>
          <a:xfrm>
            <a:off x="578874" y="43103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Download assignments</a:t>
            </a:r>
            <a:endParaRPr lang="en-US" sz="1191"/>
          </a:p>
        </p:txBody>
      </p:sp>
      <p:sp>
        <p:nvSpPr>
          <p:cNvPr id="23" name="Shape 23"/>
          <p:cNvSpPr/>
          <p:nvPr/>
        </p:nvSpPr>
        <p:spPr>
          <a:xfrm>
            <a:off x="578874" y="452893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Select driver ID and date</a:t>
            </a:r>
            <a:endParaRPr lang="en-US" sz="926"/>
          </a:p>
        </p:txBody>
      </p:sp>
      <p:cxnSp>
        <p:nvCxnSpPr>
          <p:cNvPr id="24" name="Connector 24"/>
          <p:cNvCxnSpPr/>
          <p:nvPr/>
        </p:nvCxnSpPr>
        <p:spPr>
          <a:xfrm>
            <a:off x="2692318" y="4568165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25" name="Shape 25"/>
          <p:cNvSpPr/>
          <p:nvPr/>
        </p:nvSpPr>
        <p:spPr>
          <a:xfrm>
            <a:off x="3364844" y="4215089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26" name="Shape 26"/>
          <p:cNvSpPr/>
          <p:nvPr/>
        </p:nvSpPr>
        <p:spPr>
          <a:xfrm>
            <a:off x="3100848" y="43103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Find and visit tasks</a:t>
            </a:r>
            <a:endParaRPr lang="en-US" sz="1191"/>
          </a:p>
        </p:txBody>
      </p:sp>
      <p:sp>
        <p:nvSpPr>
          <p:cNvPr id="27" name="Shape 27"/>
          <p:cNvSpPr/>
          <p:nvPr/>
        </p:nvSpPr>
        <p:spPr>
          <a:xfrm>
            <a:off x="3100848" y="452893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Search, QR, task map, and GPS</a:t>
            </a:r>
            <a:endParaRPr lang="en-US" sz="926"/>
          </a:p>
        </p:txBody>
      </p:sp>
      <p:cxnSp>
        <p:nvCxnSpPr>
          <p:cNvPr id="28" name="Connector 28"/>
          <p:cNvCxnSpPr/>
          <p:nvPr/>
        </p:nvCxnSpPr>
        <p:spPr>
          <a:xfrm>
            <a:off x="5214292" y="4568165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29" name="Shape 29"/>
          <p:cNvSpPr/>
          <p:nvPr/>
        </p:nvSpPr>
        <p:spPr>
          <a:xfrm>
            <a:off x="5886818" y="4215089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30" name="Shape 30"/>
          <p:cNvSpPr/>
          <p:nvPr/>
        </p:nvSpPr>
        <p:spPr>
          <a:xfrm>
            <a:off x="5622822" y="43103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Record and save work</a:t>
            </a:r>
            <a:endParaRPr lang="en-US" sz="1191"/>
          </a:p>
        </p:txBody>
      </p:sp>
      <p:sp>
        <p:nvSpPr>
          <p:cNvPr id="31" name="Shape 31"/>
          <p:cNvSpPr/>
          <p:nvPr/>
        </p:nvSpPr>
        <p:spPr>
          <a:xfrm>
            <a:off x="5622822" y="452893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Outcome and photos on device</a:t>
            </a:r>
            <a:endParaRPr lang="en-US" sz="926"/>
          </a:p>
        </p:txBody>
      </p:sp>
      <p:cxnSp>
        <p:nvCxnSpPr>
          <p:cNvPr id="32" name="Connector 32"/>
          <p:cNvCxnSpPr/>
          <p:nvPr/>
        </p:nvCxnSpPr>
        <p:spPr>
          <a:xfrm>
            <a:off x="7736266" y="4568165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3" name="Shape 33"/>
          <p:cNvSpPr/>
          <p:nvPr/>
        </p:nvSpPr>
        <p:spPr>
          <a:xfrm>
            <a:off x="8408792" y="4215089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34" name="Shape 34"/>
          <p:cNvSpPr/>
          <p:nvPr/>
        </p:nvSpPr>
        <p:spPr>
          <a:xfrm>
            <a:off x="8144796" y="43103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Sync completed work</a:t>
            </a:r>
            <a:endParaRPr lang="en-US" sz="1191"/>
          </a:p>
        </p:txBody>
      </p:sp>
      <p:sp>
        <p:nvSpPr>
          <p:cNvPr id="35" name="Shape 35"/>
          <p:cNvSpPr/>
          <p:nvPr/>
        </p:nvSpPr>
        <p:spPr>
          <a:xfrm>
            <a:off x="8144796" y="452893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Upload results and photos</a:t>
            </a:r>
            <a:endParaRPr lang="en-US" sz="926"/>
          </a:p>
        </p:txBody>
      </p:sp>
      <p:cxnSp>
        <p:nvCxnSpPr>
          <p:cNvPr id="36" name="Connector 36"/>
          <p:cNvCxnSpPr/>
          <p:nvPr/>
        </p:nvCxnSpPr>
        <p:spPr>
          <a:xfrm>
            <a:off x="4289568" y="2996134"/>
            <a:ext cx="0" cy="336263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37" name="Connector 37"/>
          <p:cNvCxnSpPr/>
          <p:nvPr/>
        </p:nvCxnSpPr>
        <p:spPr>
          <a:xfrm flipH="1">
            <a:off x="1767594" y="3332398"/>
            <a:ext cx="2521974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38" name="Connector 38"/>
          <p:cNvCxnSpPr/>
          <p:nvPr/>
        </p:nvCxnSpPr>
        <p:spPr>
          <a:xfrm>
            <a:off x="1767594" y="3332398"/>
            <a:ext cx="0" cy="88269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9" name="Shape 39"/>
          <p:cNvSpPr/>
          <p:nvPr/>
        </p:nvSpPr>
        <p:spPr>
          <a:xfrm>
            <a:off x="1461565" y="306618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Assigned tasks</a:t>
            </a:r>
            <a:endParaRPr lang="en-US" sz="926"/>
          </a:p>
        </p:txBody>
      </p:sp>
      <p:cxnSp>
        <p:nvCxnSpPr>
          <p:cNvPr id="40" name="Connector 40"/>
          <p:cNvCxnSpPr/>
          <p:nvPr/>
        </p:nvCxnSpPr>
        <p:spPr>
          <a:xfrm flipV="1">
            <a:off x="4289568" y="3668661"/>
            <a:ext cx="0" cy="546427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41" name="Connector 41"/>
          <p:cNvCxnSpPr/>
          <p:nvPr/>
        </p:nvCxnSpPr>
        <p:spPr>
          <a:xfrm>
            <a:off x="4289568" y="3668661"/>
            <a:ext cx="2521974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42" name="Connector 42"/>
          <p:cNvCxnSpPr/>
          <p:nvPr/>
        </p:nvCxnSpPr>
        <p:spPr>
          <a:xfrm flipV="1">
            <a:off x="6811542" y="2996134"/>
            <a:ext cx="0" cy="672526"/>
          </a:xfrm>
          <a:prstGeom prst="line">
            <a:avLst/>
          </a:prstGeom>
          <a:ln w="19050">
            <a:solidFill>
              <a:srgbClr val="536B83"/>
            </a:solidFill>
            <a:prstDash val="dash"/>
            <a:tailEnd type="triangle"/>
          </a:ln>
        </p:spPr>
      </p:cxnSp>
      <p:sp>
        <p:nvSpPr>
          <p:cNvPr id="43" name="Shape 43"/>
          <p:cNvSpPr/>
          <p:nvPr/>
        </p:nvSpPr>
        <p:spPr>
          <a:xfrm>
            <a:off x="3813195" y="3385639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GPS / activity updates when available</a:t>
            </a:r>
            <a:endParaRPr lang="en-US" sz="926"/>
          </a:p>
        </p:txBody>
      </p:sp>
      <p:cxnSp>
        <p:nvCxnSpPr>
          <p:cNvPr id="44" name="Connector 44"/>
          <p:cNvCxnSpPr/>
          <p:nvPr/>
        </p:nvCxnSpPr>
        <p:spPr>
          <a:xfrm>
            <a:off x="10258240" y="4568165"/>
            <a:ext cx="210164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45" name="Connector 45"/>
          <p:cNvCxnSpPr/>
          <p:nvPr/>
        </p:nvCxnSpPr>
        <p:spPr>
          <a:xfrm flipV="1">
            <a:off x="10468405" y="2634651"/>
            <a:ext cx="0" cy="1933513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46" name="Connector 46"/>
          <p:cNvCxnSpPr/>
          <p:nvPr/>
        </p:nvCxnSpPr>
        <p:spPr>
          <a:xfrm flipH="1">
            <a:off x="10258240" y="2634651"/>
            <a:ext cx="210164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7" name="Shape 47"/>
          <p:cNvSpPr/>
          <p:nvPr/>
        </p:nvSpPr>
        <p:spPr>
          <a:xfrm>
            <a:off x="8144796" y="370508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Successful upload → admin review</a:t>
            </a:r>
            <a:endParaRPr lang="en-US" sz="926"/>
          </a:p>
        </p:txBody>
      </p:sp>
      <p:sp>
        <p:nvSpPr>
          <p:cNvPr id="48" name="Shape 48"/>
          <p:cNvSpPr/>
          <p:nvPr/>
        </p:nvSpPr>
        <p:spPr>
          <a:xfrm>
            <a:off x="4121436" y="5476076"/>
            <a:ext cx="4497520" cy="605273"/>
          </a:xfrm>
          <a:prstGeom prst="roundRect">
            <a:avLst/>
          </a:prstGeom>
          <a:solidFill>
            <a:srgbClr val="FFF3D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49" name="Shape 49"/>
          <p:cNvSpPr/>
          <p:nvPr/>
        </p:nvSpPr>
        <p:spPr>
          <a:xfrm>
            <a:off x="4628633" y="5537724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Offline or upload failed: keep work on device</a:t>
            </a:r>
            <a:endParaRPr lang="en-US" sz="1191"/>
          </a:p>
        </p:txBody>
      </p:sp>
      <p:sp>
        <p:nvSpPr>
          <p:cNvPr id="50" name="Shape 50"/>
          <p:cNvSpPr/>
          <p:nvPr/>
        </p:nvSpPr>
        <p:spPr>
          <a:xfrm>
            <a:off x="4628633" y="576470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Reconnect and retry until successfully transferred</a:t>
            </a:r>
            <a:endParaRPr lang="en-US" sz="926"/>
          </a:p>
        </p:txBody>
      </p:sp>
      <p:cxnSp>
        <p:nvCxnSpPr>
          <p:cNvPr id="51" name="Connector 51"/>
          <p:cNvCxnSpPr/>
          <p:nvPr/>
        </p:nvCxnSpPr>
        <p:spPr>
          <a:xfrm>
            <a:off x="9333516" y="4929648"/>
            <a:ext cx="0" cy="849064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2" name="Connector 52"/>
          <p:cNvCxnSpPr/>
          <p:nvPr/>
        </p:nvCxnSpPr>
        <p:spPr>
          <a:xfrm flipH="1">
            <a:off x="8618957" y="5778713"/>
            <a:ext cx="714559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53" name="Connector 53"/>
          <p:cNvCxnSpPr/>
          <p:nvPr/>
        </p:nvCxnSpPr>
        <p:spPr>
          <a:xfrm>
            <a:off x="8618957" y="5963657"/>
            <a:ext cx="1723349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54" name="Connector 54"/>
          <p:cNvCxnSpPr/>
          <p:nvPr/>
        </p:nvCxnSpPr>
        <p:spPr>
          <a:xfrm flipV="1">
            <a:off x="10342306" y="5139812"/>
            <a:ext cx="0" cy="823844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55" name="Connector 55"/>
          <p:cNvCxnSpPr/>
          <p:nvPr/>
        </p:nvCxnSpPr>
        <p:spPr>
          <a:xfrm flipH="1">
            <a:off x="9333516" y="5139812"/>
            <a:ext cx="1008789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56" name="Connector 56"/>
          <p:cNvCxnSpPr/>
          <p:nvPr/>
        </p:nvCxnSpPr>
        <p:spPr>
          <a:xfrm flipV="1">
            <a:off x="9333516" y="4929648"/>
            <a:ext cx="0" cy="210164"/>
          </a:xfrm>
          <a:prstGeom prst="line">
            <a:avLst/>
          </a:prstGeom>
          <a:ln w="19050">
            <a:solidFill>
              <a:srgbClr val="536B83"/>
            </a:solidFill>
            <a:prstDash val="dash"/>
            <a:tailEnd type="triangle"/>
          </a:ln>
        </p:spPr>
      </p:cxnSp>
      <p:sp>
        <p:nvSpPr>
          <p:cNvPr id="57" name="Shape 57"/>
          <p:cNvSpPr/>
          <p:nvPr/>
        </p:nvSpPr>
        <p:spPr>
          <a:xfrm>
            <a:off x="660727" y="559657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Shared records connect both roles.</a:t>
            </a:r>
            <a:endParaRPr lang="en-US" sz="926"/>
          </a:p>
        </p:txBody>
      </p:sp>
      <p:sp>
        <p:nvSpPr>
          <p:cNvPr id="58" name="Shape 58"/>
          <p:cNvSpPr/>
          <p:nvPr/>
        </p:nvSpPr>
        <p:spPr>
          <a:xfrm>
            <a:off x="660727" y="5806734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Admin follow-up guides the next workload.</a:t>
            </a:r>
            <a:endParaRPr lang="en-US" sz="926"/>
          </a:p>
        </p:txBody>
      </p:sp>
      <p:sp>
        <p:nvSpPr>
          <p:cNvPr id="59" name="Shape 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60" name="Shape 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8 / 8</a:t>
            </a:r>
            <a:endParaRPr lang="en-US" sz="1000"/>
          </a:p>
        </p:txBody>
      </p:sp>
      <p:sp>
        <p:nvSpPr>
          <p:cNvPr id="61" name="Task Viewer 61"/>
          <p:cNvSpPr/>
          <p:nvPr/>
        </p:nvSpPr>
        <p:spPr>
          <a:xfrm>
            <a:off x="594360" y="1207008"/>
            <a:ext cx="1051560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45000" tIns="25000" rIns="45000" bIns="25000" anchor="ctr">
            <a:spAutoFit/>
          </a:bodyPr>
          <a:lstStyle/>
          <a:p>
            <a:pPr algn="ctr"/>
            <a:r>
              <a:rPr lang="en-US" sz="1100" b="1" dirty="0">
                <a:solidFill>
                  <a:srgbClr val="17283E"/>
                </a:solidFill>
                <a:latin typeface="Arial"/>
              </a:rPr>
              <a:t>TASK VIEWER FLOW — completed tasks within authorized BA access</a:t>
            </a:r>
            <a:endParaRPr lang="en-US" sz="1100" dirty="0"/>
          </a:p>
        </p:txBody>
      </p:sp>
      <p:sp>
        <p:nvSpPr>
          <p:cNvPr id="62" name="Task Viewer 62"/>
          <p:cNvSpPr/>
          <p:nvPr/>
        </p:nvSpPr>
        <p:spPr>
          <a:xfrm>
            <a:off x="822960" y="1527048"/>
            <a:ext cx="1965960" cy="530352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2583D8"/>
            </a:solidFill>
          </a:ln>
        </p:spPr>
        <p:txBody>
          <a:bodyPr wrap="square" lIns="45000" tIns="25000" rIns="45000" bIns="25000" anchor="ctr">
            <a:spAutoFit/>
          </a:bodyPr>
          <a:lstStyle/>
          <a:p>
            <a:pPr algn="ctr"/>
            <a:r>
              <a:rPr lang="en-US" sz="1200" b="0">
                <a:solidFill>
                  <a:srgbClr val="17283E"/>
                </a:solidFill>
                <a:latin typeface="Arial"/>
              </a:rPr>
              <a:t>Sign in</a:t>
            </a:r>
            <a:endParaRPr lang="en-US" sz="1200"/>
          </a:p>
          <a:p>
            <a:pPr algn="ctr"/>
            <a:r>
              <a:rPr lang="en-US" sz="1200" b="0">
                <a:solidFill>
                  <a:srgbClr val="17283E"/>
                </a:solidFill>
                <a:latin typeface="Arial"/>
              </a:rPr>
              <a:t>Active viewer account</a:t>
            </a:r>
            <a:endParaRPr lang="en-US" sz="1200"/>
          </a:p>
        </p:txBody>
      </p:sp>
      <p:cxnSp>
        <p:nvCxnSpPr>
          <p:cNvPr id="63" name="Task Viewer handoff 63"/>
          <p:cNvCxnSpPr/>
          <p:nvPr/>
        </p:nvCxnSpPr>
        <p:spPr>
          <a:xfrm>
            <a:off x="2788920" y="1792224"/>
            <a:ext cx="594359" cy="0"/>
          </a:xfrm>
          <a:prstGeom prst="line">
            <a:avLst/>
          </a:prstGeom>
          <a:ln w="19050">
            <a:solidFill>
              <a:srgbClr val="2583D8"/>
            </a:solidFill>
            <a:tailEnd type="triangle"/>
          </a:ln>
        </p:spPr>
      </p:cxnSp>
      <p:sp>
        <p:nvSpPr>
          <p:cNvPr id="64" name="Task Viewer 64"/>
          <p:cNvSpPr/>
          <p:nvPr/>
        </p:nvSpPr>
        <p:spPr>
          <a:xfrm>
            <a:off x="3383279" y="1527048"/>
            <a:ext cx="1965960" cy="530352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2583D8"/>
            </a:solidFill>
          </a:ln>
        </p:spPr>
        <p:txBody>
          <a:bodyPr wrap="square" lIns="45000" tIns="25000" rIns="45000" bIns="25000" anchor="ctr">
            <a:spAutoFit/>
          </a:bodyPr>
          <a:lstStyle/>
          <a:p>
            <a:pPr algn="ctr"/>
            <a:r>
              <a:rPr lang="en-US" sz="1200" b="0">
                <a:solidFill>
                  <a:srgbClr val="17283E"/>
                </a:solidFill>
                <a:latin typeface="Arial"/>
              </a:rPr>
              <a:t>Select assigned dates</a:t>
            </a:r>
            <a:endParaRPr lang="en-US" sz="1200"/>
          </a:p>
          <a:p>
            <a:pPr algn="ctr"/>
            <a:r>
              <a:rPr lang="en-US" sz="1200" b="0">
                <a:solidFill>
                  <a:srgbClr val="17283E"/>
                </a:solidFill>
                <a:latin typeface="Arial"/>
              </a:rPr>
              <a:t>From / To range</a:t>
            </a:r>
            <a:endParaRPr lang="en-US" sz="1200"/>
          </a:p>
        </p:txBody>
      </p:sp>
      <p:cxnSp>
        <p:nvCxnSpPr>
          <p:cNvPr id="65" name="Task Viewer handoff 65"/>
          <p:cNvCxnSpPr/>
          <p:nvPr/>
        </p:nvCxnSpPr>
        <p:spPr>
          <a:xfrm>
            <a:off x="5349240" y="1792224"/>
            <a:ext cx="594360" cy="0"/>
          </a:xfrm>
          <a:prstGeom prst="line">
            <a:avLst/>
          </a:prstGeom>
          <a:ln w="19050">
            <a:solidFill>
              <a:srgbClr val="2583D8"/>
            </a:solidFill>
            <a:tailEnd type="triangle"/>
          </a:ln>
        </p:spPr>
      </p:cxnSp>
      <p:sp>
        <p:nvSpPr>
          <p:cNvPr id="66" name="Task Viewer 66"/>
          <p:cNvSpPr/>
          <p:nvPr/>
        </p:nvSpPr>
        <p:spPr>
          <a:xfrm>
            <a:off x="5943600" y="1527048"/>
            <a:ext cx="1965960" cy="530352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2583D8"/>
            </a:solidFill>
          </a:ln>
        </p:spPr>
        <p:txBody>
          <a:bodyPr wrap="square" lIns="45000" tIns="25000" rIns="45000" bIns="25000" anchor="ctr">
            <a:spAutoFit/>
          </a:bodyPr>
          <a:lstStyle/>
          <a:p>
            <a:pPr algn="ctr"/>
            <a:r>
              <a:rPr lang="en-US" sz="1200" b="0">
                <a:solidFill>
                  <a:srgbClr val="17283E"/>
                </a:solidFill>
                <a:latin typeface="Arial"/>
              </a:rPr>
              <a:t>Search and filter</a:t>
            </a:r>
            <a:endParaRPr lang="en-US" sz="1200"/>
          </a:p>
          <a:p>
            <a:pPr algn="ctr"/>
            <a:r>
              <a:rPr lang="en-US" sz="1200" b="0">
                <a:solidFill>
                  <a:srgbClr val="17283E"/>
                </a:solidFill>
                <a:latin typeface="Arial"/>
              </a:rPr>
              <a:t>Allowed BA access</a:t>
            </a:r>
            <a:endParaRPr lang="en-US" sz="1200"/>
          </a:p>
        </p:txBody>
      </p:sp>
      <p:cxnSp>
        <p:nvCxnSpPr>
          <p:cNvPr id="67" name="Task Viewer handoff 67"/>
          <p:cNvCxnSpPr/>
          <p:nvPr/>
        </p:nvCxnSpPr>
        <p:spPr>
          <a:xfrm>
            <a:off x="7909560" y="1792224"/>
            <a:ext cx="594360" cy="0"/>
          </a:xfrm>
          <a:prstGeom prst="line">
            <a:avLst/>
          </a:prstGeom>
          <a:ln w="19050">
            <a:solidFill>
              <a:srgbClr val="2583D8"/>
            </a:solidFill>
            <a:tailEnd type="triangle"/>
          </a:ln>
        </p:spPr>
      </p:cxnSp>
      <p:sp>
        <p:nvSpPr>
          <p:cNvPr id="68" name="Task Viewer 68"/>
          <p:cNvSpPr/>
          <p:nvPr/>
        </p:nvSpPr>
        <p:spPr>
          <a:xfrm>
            <a:off x="8503919" y="1527048"/>
            <a:ext cx="1965960" cy="530352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2583D8"/>
            </a:solidFill>
          </a:ln>
        </p:spPr>
        <p:txBody>
          <a:bodyPr wrap="square" lIns="45000" tIns="25000" rIns="45000" bIns="25000" anchor="ctr">
            <a:spAutoFit/>
          </a:bodyPr>
          <a:lstStyle/>
          <a:p>
            <a:pPr algn="ctr"/>
            <a:r>
              <a:rPr lang="en-US" sz="1200" b="0">
                <a:solidFill>
                  <a:srgbClr val="17283E"/>
                </a:solidFill>
                <a:latin typeface="Arial"/>
              </a:rPr>
              <a:t>Review completed tasks</a:t>
            </a:r>
            <a:endParaRPr lang="en-US" sz="1200"/>
          </a:p>
          <a:p>
            <a:pPr algn="ctr"/>
            <a:r>
              <a:rPr lang="en-US" sz="1200" b="0">
                <a:solidFill>
                  <a:srgbClr val="17283E"/>
                </a:solidFill>
                <a:latin typeface="Arial"/>
              </a:rPr>
              <a:t>Details and photos</a:t>
            </a:r>
            <a:endParaRPr lang="en-US" sz="1200"/>
          </a:p>
        </p:txBody>
      </p:sp>
      <p:cxnSp>
        <p:nvCxnSpPr>
          <p:cNvPr id="69" name="Task Viewer handoff 69"/>
          <p:cNvCxnSpPr/>
          <p:nvPr/>
        </p:nvCxnSpPr>
        <p:spPr>
          <a:xfrm>
            <a:off x="10259568" y="4562856"/>
            <a:ext cx="850391" cy="0"/>
          </a:xfrm>
          <a:prstGeom prst="line">
            <a:avLst/>
          </a:prstGeom>
          <a:ln w="19050">
            <a:solidFill>
              <a:srgbClr val="2583D8"/>
            </a:solidFill>
          </a:ln>
        </p:spPr>
      </p:cxnSp>
      <p:cxnSp>
        <p:nvCxnSpPr>
          <p:cNvPr id="70" name="Task Viewer handoff 70"/>
          <p:cNvCxnSpPr/>
          <p:nvPr/>
        </p:nvCxnSpPr>
        <p:spPr>
          <a:xfrm flipV="1">
            <a:off x="11109960" y="1792224"/>
            <a:ext cx="0" cy="2770632"/>
          </a:xfrm>
          <a:prstGeom prst="line">
            <a:avLst/>
          </a:prstGeom>
          <a:ln w="19050">
            <a:solidFill>
              <a:srgbClr val="2583D8"/>
            </a:solidFill>
          </a:ln>
        </p:spPr>
      </p:cxnSp>
      <p:cxnSp>
        <p:nvCxnSpPr>
          <p:cNvPr id="71" name="Task Viewer handoff 71"/>
          <p:cNvCxnSpPr/>
          <p:nvPr/>
        </p:nvCxnSpPr>
        <p:spPr>
          <a:xfrm flipH="1">
            <a:off x="10469880" y="1792224"/>
            <a:ext cx="640080" cy="0"/>
          </a:xfrm>
          <a:prstGeom prst="line">
            <a:avLst/>
          </a:prstGeom>
          <a:ln w="19050">
            <a:solidFill>
              <a:srgbClr val="2583D8"/>
            </a:solidFill>
            <a:tailEnd type="triangle"/>
          </a:ln>
        </p:spPr>
      </p:cxnSp>
      <p:sp>
        <p:nvSpPr>
          <p:cNvPr id="72" name="Task Viewer 72"/>
          <p:cNvSpPr/>
          <p:nvPr/>
        </p:nvSpPr>
        <p:spPr>
          <a:xfrm>
            <a:off x="10561320" y="2450592"/>
            <a:ext cx="960120" cy="749808"/>
          </a:xfrm>
          <a:prstGeom prst="roundRect">
            <a:avLst/>
          </a:prstGeom>
          <a:noFill/>
          <a:ln>
            <a:noFill/>
          </a:ln>
        </p:spPr>
        <p:txBody>
          <a:bodyPr wrap="square" lIns="45000" tIns="25000" rIns="45000" bIns="25000" anchor="ctr">
            <a:spAutoFit/>
          </a:bodyPr>
          <a:lstStyle/>
          <a:p>
            <a:pPr algn="ctr"/>
            <a:r>
              <a:rPr lang="en-US" sz="1000" b="0">
                <a:solidFill>
                  <a:srgbClr val="17283E"/>
                </a:solidFill>
                <a:latin typeface="Arial"/>
              </a:rPr>
              <a:t>Uploaded</a:t>
            </a:r>
            <a:endParaRPr lang="en-US" sz="1000"/>
          </a:p>
          <a:p>
            <a:pPr algn="ctr"/>
            <a:r>
              <a:rPr lang="en-US" sz="1000" b="0">
                <a:solidFill>
                  <a:srgbClr val="17283E"/>
                </a:solidFill>
                <a:latin typeface="Arial"/>
              </a:rPr>
              <a:t>completed</a:t>
            </a:r>
            <a:endParaRPr lang="en-US" sz="1000"/>
          </a:p>
          <a:p>
            <a:pPr algn="ctr"/>
            <a:r>
              <a:rPr lang="en-US" sz="1000" b="0">
                <a:solidFill>
                  <a:srgbClr val="17283E"/>
                </a:solidFill>
                <a:latin typeface="Arial"/>
              </a:rPr>
              <a:t>records</a:t>
            </a:r>
            <a:endParaRPr lang="en-US" sz="1000"/>
          </a:p>
        </p:txBody>
      </p:sp>
      <p:sp>
        <p:nvSpPr>
          <p:cNvPr id="74" name="Shape 4">
            <a:extLst>
              <a:ext uri="{FF2B5EF4-FFF2-40B4-BE49-F238E27FC236}">
                <a16:creationId xmlns:a16="http://schemas.microsoft.com/office/drawing/2014/main" id="{E0C1347C-03DF-346F-0ED8-D3BB06DF8A70}"/>
              </a:ext>
            </a:extLst>
          </p:cNvPr>
          <p:cNvSpPr/>
          <p:nvPr/>
        </p:nvSpPr>
        <p:spPr>
          <a:xfrm>
            <a:off x="594360" y="1333844"/>
            <a:ext cx="2377440" cy="23332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60" b="1" dirty="0">
                <a:solidFill>
                  <a:srgbClr val="007E80"/>
                </a:solidFill>
                <a:latin typeface="Arial"/>
              </a:rPr>
              <a:t>TASK VIEWER FLOW</a:t>
            </a:r>
            <a:endParaRPr lang="en-US" sz="8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ROLES &amp; INFORMATION FLOW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How the users and system connect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The cloud holds shared task records. The driver device holds downloaded work and completed items awaiting upload.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574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800" b="1">
                <a:solidFill>
                  <a:srgbClr val="007E80"/>
                </a:solidFill>
                <a:latin typeface="Arial"/>
              </a:rPr>
              <a:t>Administrator</a:t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2286000" y="2057400"/>
            <a:ext cx="9326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Import CSV → Assign tasks → Monitor drivers and tasks → Review evidence → Export reports</a:t>
            </a:r>
            <a:endParaRPr lang="en-US" sz="1700"/>
          </a:p>
        </p:txBody>
      </p:sp>
      <p:sp>
        <p:nvSpPr>
          <p:cNvPr id="7" name="Shape 7"/>
          <p:cNvSpPr/>
          <p:nvPr/>
        </p:nvSpPr>
        <p:spPr>
          <a:xfrm>
            <a:off x="548640" y="28803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800" b="1">
                <a:solidFill>
                  <a:srgbClr val="007E80"/>
                </a:solidFill>
                <a:latin typeface="Arial"/>
              </a:rPr>
              <a:t>Cloud system</a:t>
            </a:r>
            <a:endParaRPr lang="en-US" sz="1800"/>
          </a:p>
        </p:txBody>
      </p:sp>
      <p:sp>
        <p:nvSpPr>
          <p:cNvPr id="8" name="Shape 8"/>
          <p:cNvSpPr/>
          <p:nvPr/>
        </p:nvSpPr>
        <p:spPr>
          <a:xfrm>
            <a:off x="2286000" y="2880360"/>
            <a:ext cx="9326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Store task records ↔ Exchange task updates with devices</a:t>
            </a:r>
            <a:endParaRPr lang="en-US" sz="1700"/>
          </a:p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Store uploaded photos → Provide completion data for dashboards and reports</a:t>
            </a:r>
            <a:endParaRPr lang="en-US" sz="1700"/>
          </a:p>
        </p:txBody>
      </p:sp>
      <p:sp>
        <p:nvSpPr>
          <p:cNvPr id="9" name="Shape 9"/>
          <p:cNvSpPr/>
          <p:nvPr/>
        </p:nvSpPr>
        <p:spPr>
          <a:xfrm>
            <a:off x="548640" y="370332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800" b="1">
                <a:solidFill>
                  <a:srgbClr val="007E80"/>
                </a:solidFill>
                <a:latin typeface="Arial"/>
              </a:rPr>
              <a:t>Driver</a:t>
            </a:r>
            <a:endParaRPr lang="en-US" sz="1800"/>
          </a:p>
        </p:txBody>
      </p:sp>
      <p:sp>
        <p:nvSpPr>
          <p:cNvPr id="10" name="Shape 10"/>
          <p:cNvSpPr/>
          <p:nvPr/>
        </p:nvSpPr>
        <p:spPr>
          <a:xfrm>
            <a:off x="2286000" y="3703320"/>
            <a:ext cx="9326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Select / validate driver ID → Download assigned tasks → Visit location → Record outcome and photos → Upload</a:t>
            </a:r>
            <a:endParaRPr lang="en-US" sz="1700"/>
          </a:p>
        </p:txBody>
      </p:sp>
      <p:sp>
        <p:nvSpPr>
          <p:cNvPr id="11" name="Shape 11"/>
          <p:cNvSpPr/>
          <p:nvPr/>
        </p:nvSpPr>
        <p:spPr>
          <a:xfrm>
            <a:off x="548640" y="45262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800" b="1">
                <a:solidFill>
                  <a:srgbClr val="007E80"/>
                </a:solidFill>
                <a:latin typeface="Arial"/>
              </a:rPr>
              <a:t>Device storage</a:t>
            </a:r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2286000" y="4526280"/>
            <a:ext cx="9326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Keep downloaded tasks → Save field completion locally → Retain work awaiting successful transfer</a:t>
            </a:r>
            <a:endParaRPr lang="en-US" sz="1700"/>
          </a:p>
        </p:txBody>
      </p:sp>
      <p:sp>
        <p:nvSpPr>
          <p:cNvPr id="13" name="Shape 13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Shared visibility: task status, completion details, supporting photos, and driver location updates when available.</a:t>
            </a:r>
            <a:endParaRPr lang="en-US" sz="1600"/>
          </a:p>
        </p:txBody>
      </p:sp>
      <p:sp>
        <p:nvSpPr>
          <p:cNvPr id="14" name="Shape 1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15" name="Shape 1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2 / 8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COMPLETE SYSTEM FLOWCHART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900" b="1" dirty="0">
                <a:solidFill>
                  <a:srgbClr val="17283E"/>
                </a:solidFill>
                <a:latin typeface="Arial"/>
              </a:rPr>
              <a:t>Admin Dashboard Flow</a:t>
            </a:r>
            <a:endParaRPr lang="en-US" sz="2900" dirty="0"/>
          </a:p>
        </p:txBody>
      </p:sp>
      <p:sp>
        <p:nvSpPr>
          <p:cNvPr id="4" name="Shape 4"/>
          <p:cNvSpPr/>
          <p:nvPr/>
        </p:nvSpPr>
        <p:spPr>
          <a:xfrm>
            <a:off x="816908" y="1993526"/>
            <a:ext cx="1341344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5" name="Shape 5"/>
          <p:cNvSpPr/>
          <p:nvPr/>
        </p:nvSpPr>
        <p:spPr>
          <a:xfrm>
            <a:off x="295028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ADMINISTRATOR</a:t>
            </a:r>
            <a:endParaRPr lang="en-US" sz="784"/>
          </a:p>
        </p:txBody>
      </p:sp>
      <p:sp>
        <p:nvSpPr>
          <p:cNvPr id="6" name="Shape 6"/>
          <p:cNvSpPr/>
          <p:nvPr/>
        </p:nvSpPr>
        <p:spPr>
          <a:xfrm>
            <a:off x="295028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Import task CSV</a:t>
            </a:r>
            <a:endParaRPr lang="en-US" sz="1086"/>
          </a:p>
        </p:txBody>
      </p:sp>
      <p:sp>
        <p:nvSpPr>
          <p:cNvPr id="7" name="Shape 7"/>
          <p:cNvSpPr/>
          <p:nvPr/>
        </p:nvSpPr>
        <p:spPr>
          <a:xfrm>
            <a:off x="2541494" y="1993526"/>
            <a:ext cx="1341344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8" name="Shape 8"/>
          <p:cNvSpPr/>
          <p:nvPr/>
        </p:nvSpPr>
        <p:spPr>
          <a:xfrm>
            <a:off x="2019613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ADMINISTRATOR</a:t>
            </a:r>
            <a:endParaRPr lang="en-US" sz="784"/>
          </a:p>
        </p:txBody>
      </p:sp>
      <p:sp>
        <p:nvSpPr>
          <p:cNvPr id="9" name="Shape 9"/>
          <p:cNvSpPr/>
          <p:nvPr/>
        </p:nvSpPr>
        <p:spPr>
          <a:xfrm>
            <a:off x="2019613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Assign driver</a:t>
            </a:r>
            <a:endParaRPr lang="en-US" sz="1086"/>
          </a:p>
        </p:txBody>
      </p:sp>
      <p:sp>
        <p:nvSpPr>
          <p:cNvPr id="10" name="Shape 10"/>
          <p:cNvSpPr/>
          <p:nvPr/>
        </p:nvSpPr>
        <p:spPr>
          <a:xfrm>
            <a:off x="4266079" y="1993526"/>
            <a:ext cx="1341344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1" name="Shape 11"/>
          <p:cNvSpPr/>
          <p:nvPr/>
        </p:nvSpPr>
        <p:spPr>
          <a:xfrm>
            <a:off x="3744199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DRIVER</a:t>
            </a:r>
            <a:endParaRPr lang="en-US" sz="784"/>
          </a:p>
        </p:txBody>
      </p:sp>
      <p:sp>
        <p:nvSpPr>
          <p:cNvPr id="12" name="Shape 12"/>
          <p:cNvSpPr/>
          <p:nvPr/>
        </p:nvSpPr>
        <p:spPr>
          <a:xfrm>
            <a:off x="3744199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Download tasks</a:t>
            </a:r>
            <a:endParaRPr lang="en-US" sz="1086"/>
          </a:p>
        </p:txBody>
      </p:sp>
      <p:sp>
        <p:nvSpPr>
          <p:cNvPr id="13" name="Shape 13"/>
          <p:cNvSpPr/>
          <p:nvPr/>
        </p:nvSpPr>
        <p:spPr>
          <a:xfrm>
            <a:off x="5990664" y="1993526"/>
            <a:ext cx="1532964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4" name="Shape 14"/>
          <p:cNvSpPr/>
          <p:nvPr/>
        </p:nvSpPr>
        <p:spPr>
          <a:xfrm>
            <a:off x="5568427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DRIVER · FIELD WORK</a:t>
            </a:r>
            <a:endParaRPr lang="en-US" sz="784"/>
          </a:p>
        </p:txBody>
      </p:sp>
      <p:sp>
        <p:nvSpPr>
          <p:cNvPr id="15" name="Shape 15"/>
          <p:cNvSpPr/>
          <p:nvPr/>
        </p:nvSpPr>
        <p:spPr>
          <a:xfrm>
            <a:off x="5568427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Outcome + photos</a:t>
            </a:r>
            <a:endParaRPr lang="en-US" sz="1086"/>
          </a:p>
        </p:txBody>
      </p:sp>
      <p:sp>
        <p:nvSpPr>
          <p:cNvPr id="16" name="Shape 16"/>
          <p:cNvSpPr/>
          <p:nvPr/>
        </p:nvSpPr>
        <p:spPr>
          <a:xfrm>
            <a:off x="7906870" y="1993526"/>
            <a:ext cx="1571288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7" name="Shape 17"/>
          <p:cNvSpPr/>
          <p:nvPr/>
        </p:nvSpPr>
        <p:spPr>
          <a:xfrm>
            <a:off x="7499962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DEVICE STORAGE</a:t>
            </a:r>
            <a:endParaRPr lang="en-US" sz="784"/>
          </a:p>
        </p:txBody>
      </p:sp>
      <p:sp>
        <p:nvSpPr>
          <p:cNvPr id="18" name="Shape 18"/>
          <p:cNvSpPr/>
          <p:nvPr/>
        </p:nvSpPr>
        <p:spPr>
          <a:xfrm>
            <a:off x="7499962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Save locally</a:t>
            </a:r>
            <a:endParaRPr lang="en-US" sz="1086"/>
          </a:p>
        </p:txBody>
      </p:sp>
      <p:cxnSp>
        <p:nvCxnSpPr>
          <p:cNvPr id="19" name="Connector 19"/>
          <p:cNvCxnSpPr/>
          <p:nvPr/>
        </p:nvCxnSpPr>
        <p:spPr>
          <a:xfrm>
            <a:off x="2158252" y="2284789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20" name="Connector 20"/>
          <p:cNvCxnSpPr/>
          <p:nvPr/>
        </p:nvCxnSpPr>
        <p:spPr>
          <a:xfrm>
            <a:off x="3882838" y="2284789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21" name="Connector 21"/>
          <p:cNvCxnSpPr/>
          <p:nvPr/>
        </p:nvCxnSpPr>
        <p:spPr>
          <a:xfrm>
            <a:off x="5607423" y="2284789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22" name="Connector 22"/>
          <p:cNvCxnSpPr/>
          <p:nvPr/>
        </p:nvCxnSpPr>
        <p:spPr>
          <a:xfrm>
            <a:off x="7523629" y="2284789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23" name="Connector 23"/>
          <p:cNvCxnSpPr/>
          <p:nvPr/>
        </p:nvCxnSpPr>
        <p:spPr>
          <a:xfrm>
            <a:off x="8688682" y="2568388"/>
            <a:ext cx="0" cy="321922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24" name="Shape 24"/>
          <p:cNvSpPr/>
          <p:nvPr/>
        </p:nvSpPr>
        <p:spPr>
          <a:xfrm>
            <a:off x="7975854" y="2890310"/>
            <a:ext cx="1425657" cy="735823"/>
          </a:xfrm>
          <a:prstGeom prst="diamond">
            <a:avLst/>
          </a:prstGeom>
          <a:solidFill>
            <a:srgbClr val="E5F3F2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25" name="Shape 25"/>
          <p:cNvSpPr/>
          <p:nvPr/>
        </p:nvSpPr>
        <p:spPr>
          <a:xfrm>
            <a:off x="7499962" y="303849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Internet</a:t>
            </a:r>
            <a:endParaRPr lang="en-US" sz="1086"/>
          </a:p>
        </p:txBody>
      </p:sp>
      <p:sp>
        <p:nvSpPr>
          <p:cNvPr id="26" name="Shape 26"/>
          <p:cNvSpPr/>
          <p:nvPr/>
        </p:nvSpPr>
        <p:spPr>
          <a:xfrm>
            <a:off x="7499962" y="319945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available?</a:t>
            </a:r>
            <a:endParaRPr lang="en-US" sz="1086"/>
          </a:p>
        </p:txBody>
      </p:sp>
      <p:sp>
        <p:nvSpPr>
          <p:cNvPr id="27" name="Shape 27"/>
          <p:cNvSpPr/>
          <p:nvPr/>
        </p:nvSpPr>
        <p:spPr>
          <a:xfrm>
            <a:off x="5990664" y="2966959"/>
            <a:ext cx="1532964" cy="58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28" name="Shape 28"/>
          <p:cNvSpPr/>
          <p:nvPr/>
        </p:nvSpPr>
        <p:spPr>
          <a:xfrm>
            <a:off x="5568427" y="301550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Upload details</a:t>
            </a:r>
            <a:endParaRPr lang="en-US" sz="1086"/>
          </a:p>
        </p:txBody>
      </p:sp>
      <p:sp>
        <p:nvSpPr>
          <p:cNvPr id="29" name="Shape 29"/>
          <p:cNvSpPr/>
          <p:nvPr/>
        </p:nvSpPr>
        <p:spPr>
          <a:xfrm>
            <a:off x="5568427" y="319179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and photos</a:t>
            </a:r>
            <a:endParaRPr lang="en-US" sz="1086"/>
          </a:p>
        </p:txBody>
      </p:sp>
      <p:cxnSp>
        <p:nvCxnSpPr>
          <p:cNvPr id="30" name="Connector 30"/>
          <p:cNvCxnSpPr/>
          <p:nvPr/>
        </p:nvCxnSpPr>
        <p:spPr>
          <a:xfrm flipH="1">
            <a:off x="7523629" y="3258222"/>
            <a:ext cx="452224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1" name="Shape 31"/>
          <p:cNvSpPr/>
          <p:nvPr/>
        </p:nvSpPr>
        <p:spPr>
          <a:xfrm>
            <a:off x="6564854" y="296951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Yes</a:t>
            </a:r>
            <a:endParaRPr lang="en-US" sz="844"/>
          </a:p>
        </p:txBody>
      </p:sp>
      <p:sp>
        <p:nvSpPr>
          <p:cNvPr id="32" name="Shape 32"/>
          <p:cNvSpPr/>
          <p:nvPr/>
        </p:nvSpPr>
        <p:spPr>
          <a:xfrm>
            <a:off x="7906870" y="3932726"/>
            <a:ext cx="1571288" cy="628515"/>
          </a:xfrm>
          <a:prstGeom prst="roundRect">
            <a:avLst/>
          </a:prstGeom>
          <a:solidFill>
            <a:srgbClr val="FFF3D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33" name="Shape 33"/>
          <p:cNvSpPr/>
          <p:nvPr/>
        </p:nvSpPr>
        <p:spPr>
          <a:xfrm>
            <a:off x="7499962" y="396594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Keep work on device</a:t>
            </a:r>
            <a:endParaRPr lang="en-US" sz="1086"/>
          </a:p>
        </p:txBody>
      </p:sp>
      <p:sp>
        <p:nvSpPr>
          <p:cNvPr id="34" name="Shape 34"/>
          <p:cNvSpPr/>
          <p:nvPr/>
        </p:nvSpPr>
        <p:spPr>
          <a:xfrm>
            <a:off x="7499962" y="41575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Reconnect / retry</a:t>
            </a:r>
            <a:endParaRPr lang="en-US" sz="844"/>
          </a:p>
        </p:txBody>
      </p:sp>
      <p:cxnSp>
        <p:nvCxnSpPr>
          <p:cNvPr id="35" name="Connector 35"/>
          <p:cNvCxnSpPr/>
          <p:nvPr/>
        </p:nvCxnSpPr>
        <p:spPr>
          <a:xfrm>
            <a:off x="8688682" y="3626133"/>
            <a:ext cx="0" cy="306592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6" name="Shape 36"/>
          <p:cNvSpPr/>
          <p:nvPr/>
        </p:nvSpPr>
        <p:spPr>
          <a:xfrm>
            <a:off x="7668588" y="364401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No</a:t>
            </a:r>
            <a:endParaRPr lang="en-US" sz="844"/>
          </a:p>
        </p:txBody>
      </p:sp>
      <p:cxnSp>
        <p:nvCxnSpPr>
          <p:cNvPr id="37" name="Connector 37"/>
          <p:cNvCxnSpPr/>
          <p:nvPr/>
        </p:nvCxnSpPr>
        <p:spPr>
          <a:xfrm>
            <a:off x="9478159" y="4246984"/>
            <a:ext cx="137966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38" name="Connector 38"/>
          <p:cNvCxnSpPr/>
          <p:nvPr/>
        </p:nvCxnSpPr>
        <p:spPr>
          <a:xfrm flipV="1">
            <a:off x="9616126" y="3258222"/>
            <a:ext cx="0" cy="988762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39" name="Connector 39"/>
          <p:cNvCxnSpPr/>
          <p:nvPr/>
        </p:nvCxnSpPr>
        <p:spPr>
          <a:xfrm flipH="1">
            <a:off x="9401511" y="3258222"/>
            <a:ext cx="214615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  <a:tailEnd type="triangle"/>
          </a:ln>
        </p:spPr>
      </p:cxnSp>
      <p:cxnSp>
        <p:nvCxnSpPr>
          <p:cNvPr id="40" name="Connector 40"/>
          <p:cNvCxnSpPr/>
          <p:nvPr/>
        </p:nvCxnSpPr>
        <p:spPr>
          <a:xfrm>
            <a:off x="6757147" y="3549485"/>
            <a:ext cx="0" cy="697498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41" name="Connector 41"/>
          <p:cNvCxnSpPr/>
          <p:nvPr/>
        </p:nvCxnSpPr>
        <p:spPr>
          <a:xfrm>
            <a:off x="6757147" y="4246984"/>
            <a:ext cx="1149723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2" name="Shape 42"/>
          <p:cNvSpPr/>
          <p:nvPr/>
        </p:nvSpPr>
        <p:spPr>
          <a:xfrm>
            <a:off x="6028316" y="398127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Upload fails</a:t>
            </a:r>
            <a:endParaRPr lang="en-US" sz="844"/>
          </a:p>
        </p:txBody>
      </p:sp>
      <p:sp>
        <p:nvSpPr>
          <p:cNvPr id="43" name="Shape 43"/>
          <p:cNvSpPr/>
          <p:nvPr/>
        </p:nvSpPr>
        <p:spPr>
          <a:xfrm>
            <a:off x="3921162" y="2966959"/>
            <a:ext cx="1686261" cy="58252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44" name="Shape 44"/>
          <p:cNvSpPr/>
          <p:nvPr/>
        </p:nvSpPr>
        <p:spPr>
          <a:xfrm>
            <a:off x="3575572" y="299250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Shared task records</a:t>
            </a:r>
            <a:endParaRPr lang="en-US" sz="1086"/>
          </a:p>
        </p:txBody>
      </p:sp>
      <p:sp>
        <p:nvSpPr>
          <p:cNvPr id="45" name="Shape 45"/>
          <p:cNvSpPr/>
          <p:nvPr/>
        </p:nvSpPr>
        <p:spPr>
          <a:xfrm>
            <a:off x="3575572" y="318412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Successful upload: COMPLETED</a:t>
            </a:r>
            <a:endParaRPr lang="en-US" sz="844"/>
          </a:p>
        </p:txBody>
      </p:sp>
      <p:cxnSp>
        <p:nvCxnSpPr>
          <p:cNvPr id="46" name="Connector 46"/>
          <p:cNvCxnSpPr/>
          <p:nvPr/>
        </p:nvCxnSpPr>
        <p:spPr>
          <a:xfrm flipH="1">
            <a:off x="5607423" y="3258222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7" name="Shape 47"/>
          <p:cNvSpPr/>
          <p:nvPr/>
        </p:nvSpPr>
        <p:spPr>
          <a:xfrm>
            <a:off x="4610324" y="294651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Success</a:t>
            </a:r>
            <a:endParaRPr lang="en-US" sz="844"/>
          </a:p>
        </p:txBody>
      </p:sp>
      <p:cxnSp>
        <p:nvCxnSpPr>
          <p:cNvPr id="48" name="Connector 48"/>
          <p:cNvCxnSpPr/>
          <p:nvPr/>
        </p:nvCxnSpPr>
        <p:spPr>
          <a:xfrm>
            <a:off x="3208333" y="2568388"/>
            <a:ext cx="0" cy="20695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49" name="Connector 49"/>
          <p:cNvCxnSpPr/>
          <p:nvPr/>
        </p:nvCxnSpPr>
        <p:spPr>
          <a:xfrm>
            <a:off x="3208333" y="2775338"/>
            <a:ext cx="1555959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0" name="Connector 50"/>
          <p:cNvCxnSpPr/>
          <p:nvPr/>
        </p:nvCxnSpPr>
        <p:spPr>
          <a:xfrm>
            <a:off x="4764292" y="2775338"/>
            <a:ext cx="0" cy="19162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51" name="Shape 51"/>
          <p:cNvSpPr/>
          <p:nvPr/>
        </p:nvSpPr>
        <p:spPr>
          <a:xfrm>
            <a:off x="2349201" y="253261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Assigned records</a:t>
            </a:r>
            <a:endParaRPr lang="en-US" sz="844"/>
          </a:p>
        </p:txBody>
      </p:sp>
      <p:sp>
        <p:nvSpPr>
          <p:cNvPr id="52" name="Shape 52"/>
          <p:cNvSpPr/>
          <p:nvPr/>
        </p:nvSpPr>
        <p:spPr>
          <a:xfrm>
            <a:off x="816908" y="2966959"/>
            <a:ext cx="2184474" cy="58252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53" name="Shape 53"/>
          <p:cNvSpPr/>
          <p:nvPr/>
        </p:nvSpPr>
        <p:spPr>
          <a:xfrm>
            <a:off x="716593" y="300783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Driver GPS + activity updates</a:t>
            </a:r>
            <a:endParaRPr lang="en-US" sz="1086"/>
          </a:p>
        </p:txBody>
      </p:sp>
      <p:sp>
        <p:nvSpPr>
          <p:cNvPr id="54" name="Shape 54"/>
          <p:cNvSpPr/>
          <p:nvPr/>
        </p:nvSpPr>
        <p:spPr>
          <a:xfrm>
            <a:off x="167953" y="3191793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When location and connectivity allow</a:t>
            </a:r>
            <a:endParaRPr lang="en-US" sz="844"/>
          </a:p>
        </p:txBody>
      </p:sp>
      <p:cxnSp>
        <p:nvCxnSpPr>
          <p:cNvPr id="55" name="Connector 55"/>
          <p:cNvCxnSpPr/>
          <p:nvPr/>
        </p:nvCxnSpPr>
        <p:spPr>
          <a:xfrm>
            <a:off x="1905313" y="3549485"/>
            <a:ext cx="0" cy="1394997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56" name="Connector 56"/>
          <p:cNvCxnSpPr/>
          <p:nvPr/>
        </p:nvCxnSpPr>
        <p:spPr>
          <a:xfrm>
            <a:off x="4764292" y="3549485"/>
            <a:ext cx="0" cy="1149723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7" name="Connector 57"/>
          <p:cNvCxnSpPr/>
          <p:nvPr/>
        </p:nvCxnSpPr>
        <p:spPr>
          <a:xfrm flipH="1">
            <a:off x="3859843" y="4699209"/>
            <a:ext cx="904449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8" name="Connector 58"/>
          <p:cNvCxnSpPr/>
          <p:nvPr/>
        </p:nvCxnSpPr>
        <p:spPr>
          <a:xfrm>
            <a:off x="3859843" y="4699209"/>
            <a:ext cx="0" cy="245274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59" name="Connector 59"/>
          <p:cNvCxnSpPr/>
          <p:nvPr/>
        </p:nvCxnSpPr>
        <p:spPr>
          <a:xfrm>
            <a:off x="4764292" y="4699209"/>
            <a:ext cx="1165053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60" name="Connector 60"/>
          <p:cNvCxnSpPr/>
          <p:nvPr/>
        </p:nvCxnSpPr>
        <p:spPr>
          <a:xfrm>
            <a:off x="5929346" y="4699209"/>
            <a:ext cx="0" cy="245274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61" name="Connector 61"/>
          <p:cNvCxnSpPr/>
          <p:nvPr/>
        </p:nvCxnSpPr>
        <p:spPr>
          <a:xfrm>
            <a:off x="5929346" y="4699209"/>
            <a:ext cx="2452743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62" name="Connector 62"/>
          <p:cNvCxnSpPr/>
          <p:nvPr/>
        </p:nvCxnSpPr>
        <p:spPr>
          <a:xfrm>
            <a:off x="8382089" y="4699209"/>
            <a:ext cx="0" cy="245274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63" name="Shape 63"/>
          <p:cNvSpPr/>
          <p:nvPr/>
        </p:nvSpPr>
        <p:spPr>
          <a:xfrm>
            <a:off x="3652221" y="437217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ADMIN MONITORING &amp; REVIEW</a:t>
            </a:r>
            <a:endParaRPr lang="en-US" sz="784"/>
          </a:p>
        </p:txBody>
      </p:sp>
      <p:sp>
        <p:nvSpPr>
          <p:cNvPr id="64" name="Shape 64"/>
          <p:cNvSpPr/>
          <p:nvPr/>
        </p:nvSpPr>
        <p:spPr>
          <a:xfrm>
            <a:off x="816908" y="4944483"/>
            <a:ext cx="2184474" cy="6515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65" name="Shape 65"/>
          <p:cNvSpPr/>
          <p:nvPr/>
        </p:nvSpPr>
        <p:spPr>
          <a:xfrm>
            <a:off x="716593" y="499302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Live driver map</a:t>
            </a:r>
            <a:endParaRPr lang="en-US" sz="1086"/>
          </a:p>
        </p:txBody>
      </p:sp>
      <p:sp>
        <p:nvSpPr>
          <p:cNvPr id="66" name="Shape 66"/>
          <p:cNvSpPr/>
          <p:nvPr/>
        </p:nvSpPr>
        <p:spPr>
          <a:xfrm>
            <a:off x="167953" y="519231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Location · Active / Idle / Offline</a:t>
            </a:r>
            <a:endParaRPr lang="en-US" sz="844"/>
          </a:p>
        </p:txBody>
      </p:sp>
      <p:sp>
        <p:nvSpPr>
          <p:cNvPr id="67" name="Shape 67"/>
          <p:cNvSpPr/>
          <p:nvPr/>
        </p:nvSpPr>
        <p:spPr>
          <a:xfrm>
            <a:off x="3193004" y="4944483"/>
            <a:ext cx="1762909" cy="6515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68" name="Shape 68"/>
          <p:cNvSpPr/>
          <p:nvPr/>
        </p:nvSpPr>
        <p:spPr>
          <a:xfrm>
            <a:off x="2885738" y="499302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Task summary + graphs</a:t>
            </a:r>
            <a:endParaRPr lang="en-US" sz="1086"/>
          </a:p>
        </p:txBody>
      </p:sp>
      <p:sp>
        <p:nvSpPr>
          <p:cNvPr id="69" name="Shape 69"/>
          <p:cNvSpPr/>
          <p:nvPr/>
        </p:nvSpPr>
        <p:spPr>
          <a:xfrm>
            <a:off x="2885738" y="519231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Workload · Completions by hour</a:t>
            </a:r>
            <a:endParaRPr lang="en-US" sz="844"/>
          </a:p>
        </p:txBody>
      </p:sp>
      <p:sp>
        <p:nvSpPr>
          <p:cNvPr id="70" name="Shape 70"/>
          <p:cNvSpPr/>
          <p:nvPr/>
        </p:nvSpPr>
        <p:spPr>
          <a:xfrm>
            <a:off x="5147534" y="4944483"/>
            <a:ext cx="1762909" cy="6515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71" name="Shape 71"/>
          <p:cNvSpPr/>
          <p:nvPr/>
        </p:nvSpPr>
        <p:spPr>
          <a:xfrm>
            <a:off x="4840268" y="499302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7-day completion heatmap</a:t>
            </a:r>
            <a:endParaRPr lang="en-US" sz="1086"/>
          </a:p>
        </p:txBody>
      </p:sp>
      <p:sp>
        <p:nvSpPr>
          <p:cNvPr id="72" name="Shape 72"/>
          <p:cNvSpPr/>
          <p:nvPr/>
        </p:nvSpPr>
        <p:spPr>
          <a:xfrm>
            <a:off x="4291628" y="519231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Completed / total by created date</a:t>
            </a:r>
            <a:endParaRPr lang="en-US" sz="844"/>
          </a:p>
        </p:txBody>
      </p:sp>
      <p:sp>
        <p:nvSpPr>
          <p:cNvPr id="73" name="Shape 73"/>
          <p:cNvSpPr/>
          <p:nvPr/>
        </p:nvSpPr>
        <p:spPr>
          <a:xfrm>
            <a:off x="7102064" y="4944483"/>
            <a:ext cx="2376095" cy="6515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74" name="Shape 74"/>
          <p:cNvSpPr/>
          <p:nvPr/>
        </p:nvSpPr>
        <p:spPr>
          <a:xfrm>
            <a:off x="7101391" y="499302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Review evidence + export reports</a:t>
            </a:r>
            <a:endParaRPr lang="en-US" sz="1086"/>
          </a:p>
        </p:txBody>
      </p:sp>
      <p:sp>
        <p:nvSpPr>
          <p:cNvPr id="75" name="Shape 75"/>
          <p:cNvSpPr/>
          <p:nvPr/>
        </p:nvSpPr>
        <p:spPr>
          <a:xfrm>
            <a:off x="6552751" y="519231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Task details · Photos · Report filters</a:t>
            </a:r>
            <a:endParaRPr lang="en-US" sz="844"/>
          </a:p>
        </p:txBody>
      </p:sp>
      <p:cxnSp>
        <p:nvCxnSpPr>
          <p:cNvPr id="76" name="Connector 76"/>
          <p:cNvCxnSpPr/>
          <p:nvPr/>
        </p:nvCxnSpPr>
        <p:spPr>
          <a:xfrm>
            <a:off x="1905313" y="5595993"/>
            <a:ext cx="0" cy="20695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77" name="Connector 77"/>
          <p:cNvCxnSpPr/>
          <p:nvPr/>
        </p:nvCxnSpPr>
        <p:spPr>
          <a:xfrm>
            <a:off x="1905313" y="5802943"/>
            <a:ext cx="3242220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78" name="Connector 78"/>
          <p:cNvCxnSpPr/>
          <p:nvPr/>
        </p:nvCxnSpPr>
        <p:spPr>
          <a:xfrm>
            <a:off x="5147534" y="5802943"/>
            <a:ext cx="0" cy="199285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79" name="Connector 79"/>
          <p:cNvCxnSpPr/>
          <p:nvPr/>
        </p:nvCxnSpPr>
        <p:spPr>
          <a:xfrm>
            <a:off x="4074458" y="5595993"/>
            <a:ext cx="0" cy="20695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80" name="Connector 80"/>
          <p:cNvCxnSpPr/>
          <p:nvPr/>
        </p:nvCxnSpPr>
        <p:spPr>
          <a:xfrm>
            <a:off x="6028988" y="5595993"/>
            <a:ext cx="0" cy="20695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81" name="Connector 81"/>
          <p:cNvCxnSpPr/>
          <p:nvPr/>
        </p:nvCxnSpPr>
        <p:spPr>
          <a:xfrm flipH="1">
            <a:off x="5147534" y="5802943"/>
            <a:ext cx="881454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82" name="Connector 82"/>
          <p:cNvCxnSpPr/>
          <p:nvPr/>
        </p:nvCxnSpPr>
        <p:spPr>
          <a:xfrm>
            <a:off x="8290111" y="5595993"/>
            <a:ext cx="0" cy="20695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83" name="Connector 83"/>
          <p:cNvCxnSpPr/>
          <p:nvPr/>
        </p:nvCxnSpPr>
        <p:spPr>
          <a:xfrm flipH="1">
            <a:off x="6028988" y="5802943"/>
            <a:ext cx="2261122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84" name="Shape 84"/>
          <p:cNvSpPr/>
          <p:nvPr/>
        </p:nvSpPr>
        <p:spPr>
          <a:xfrm>
            <a:off x="3410174" y="6027778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Admin follow-up and workload decisions</a:t>
            </a:r>
            <a:endParaRPr lang="en-US" sz="1086"/>
          </a:p>
        </p:txBody>
      </p:sp>
      <p:sp>
        <p:nvSpPr>
          <p:cNvPr id="85" name="Shape 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86" name="Shape 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5 / 8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NSCA · SYSTEM FLOW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From task assignment to completed work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A shared workflow for administrators and drivers, with local storage supporting field work when internet access is unavailable.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Import tasks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Upload a CSV containing customer, location, and job details.</a:t>
            </a:r>
            <a:endParaRPr lang="en-US" sz="1600"/>
          </a:p>
        </p:txBody>
      </p:sp>
      <p:sp>
        <p:nvSpPr>
          <p:cNvPr id="8" name="Shape 8"/>
          <p:cNvSpPr/>
          <p:nvPr/>
        </p:nvSpPr>
        <p:spPr>
          <a:xfrm>
            <a:off x="4303775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4440936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Assign a driver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4440936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Select tasks and assign them to the responsible driver.</a:t>
            </a:r>
            <a:endParaRPr lang="en-US" sz="1600"/>
          </a:p>
        </p:txBody>
      </p:sp>
      <p:sp>
        <p:nvSpPr>
          <p:cNvPr id="11" name="Shape 11"/>
          <p:cNvSpPr/>
          <p:nvPr/>
        </p:nvSpPr>
        <p:spPr>
          <a:xfrm>
            <a:off x="8058911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8196072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Download tasks</a:t>
            </a:r>
            <a:endParaRPr lang="en-US" sz="2000"/>
          </a:p>
        </p:txBody>
      </p:sp>
      <p:sp>
        <p:nvSpPr>
          <p:cNvPr id="13" name="Shape 13"/>
          <p:cNvSpPr/>
          <p:nvPr/>
        </p:nvSpPr>
        <p:spPr>
          <a:xfrm>
            <a:off x="8196072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Load assigned work onto the device for use in the field.</a:t>
            </a:r>
            <a:endParaRPr lang="en-US" sz="1600"/>
          </a:p>
        </p:txBody>
      </p:sp>
      <p:sp>
        <p:nvSpPr>
          <p:cNvPr id="14" name="Shape 14"/>
          <p:cNvSpPr/>
          <p:nvPr/>
        </p:nvSpPr>
        <p:spPr>
          <a:xfrm>
            <a:off x="548640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5" name="Shape 15"/>
          <p:cNvSpPr/>
          <p:nvPr/>
        </p:nvSpPr>
        <p:spPr>
          <a:xfrm>
            <a:off x="685800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Perform field work</a:t>
            </a:r>
            <a:endParaRPr lang="en-US" sz="2000"/>
          </a:p>
        </p:txBody>
      </p:sp>
      <p:sp>
        <p:nvSpPr>
          <p:cNvPr id="16" name="Shape 16"/>
          <p:cNvSpPr/>
          <p:nvPr/>
        </p:nvSpPr>
        <p:spPr>
          <a:xfrm>
            <a:off x="685800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View task details and maps, record the outcome, and capture supporting photos.</a:t>
            </a:r>
            <a:endParaRPr lang="en-US" sz="1600"/>
          </a:p>
        </p:txBody>
      </p:sp>
      <p:sp>
        <p:nvSpPr>
          <p:cNvPr id="17" name="Shape 17"/>
          <p:cNvSpPr/>
          <p:nvPr/>
        </p:nvSpPr>
        <p:spPr>
          <a:xfrm>
            <a:off x="4303775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8" name="Shape 18"/>
          <p:cNvSpPr/>
          <p:nvPr/>
        </p:nvSpPr>
        <p:spPr>
          <a:xfrm>
            <a:off x="4440936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Upload completed work</a:t>
            </a:r>
            <a:endParaRPr lang="en-US" sz="2000"/>
          </a:p>
        </p:txBody>
      </p:sp>
      <p:sp>
        <p:nvSpPr>
          <p:cNvPr id="19" name="Shape 19"/>
          <p:cNvSpPr/>
          <p:nvPr/>
        </p:nvSpPr>
        <p:spPr>
          <a:xfrm>
            <a:off x="4440936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Transfer locally completed task data and photos when connected.</a:t>
            </a:r>
            <a:endParaRPr lang="en-US" sz="1600"/>
          </a:p>
        </p:txBody>
      </p:sp>
      <p:sp>
        <p:nvSpPr>
          <p:cNvPr id="20" name="Shape 20"/>
          <p:cNvSpPr/>
          <p:nvPr/>
        </p:nvSpPr>
        <p:spPr>
          <a:xfrm>
            <a:off x="8058911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21" name="Shape 21"/>
          <p:cNvSpPr/>
          <p:nvPr/>
        </p:nvSpPr>
        <p:spPr>
          <a:xfrm>
            <a:off x="8196072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Monitor and report</a:t>
            </a:r>
            <a:endParaRPr lang="en-US" sz="2000"/>
          </a:p>
        </p:txBody>
      </p:sp>
      <p:sp>
        <p:nvSpPr>
          <p:cNvPr id="22" name="Shape 22"/>
          <p:cNvSpPr/>
          <p:nvPr/>
        </p:nvSpPr>
        <p:spPr>
          <a:xfrm>
            <a:off x="8196072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Review task progress and evidence, then export task reports.</a:t>
            </a:r>
            <a:endParaRPr lang="en-US" sz="1600"/>
          </a:p>
        </p:txBody>
      </p:sp>
      <p:sp>
        <p:nvSpPr>
          <p:cNvPr id="23" name="Shape 23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Import → Assign → Download → Perform → Upload → Review &amp; Report</a:t>
            </a:r>
            <a:endParaRPr lang="en-US" sz="1600"/>
          </a:p>
        </p:txBody>
      </p:sp>
      <p:sp>
        <p:nvSpPr>
          <p:cNvPr id="24" name="Shape 2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25" name="Shape 2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1 / 8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MONITORING &amp; OPERATIONAL VISIBILITY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See driver activity, workload, and progress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Three dashboard views help administrators locate drivers, compare outstanding work, and track completion across days.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3553968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Where are drivers?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3279648" cy="2706624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View reported GPS locations and driver activity. Select a driver to inspect their location and open tasks.</a:t>
            </a:r>
            <a:endParaRPr lang="en-US" sz="1400"/>
          </a:p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Activity reflects the latest driver update; location refreshes depend on GPS and connectivity.</a:t>
            </a: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4303775" y="2039112"/>
            <a:ext cx="3553968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4440936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How much work remains?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4440936" y="2706624"/>
            <a:ext cx="3279648" cy="26863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400" b="0" dirty="0">
                <a:solidFill>
                  <a:srgbClr val="526278"/>
                </a:solidFill>
                <a:latin typeface="Arial"/>
              </a:rPr>
              <a:t>Compare each driver's For Download, Pending, and Completed counts using the summary table and stacked workload bars.</a:t>
            </a:r>
          </a:p>
          <a:p>
            <a:pPr algn="l"/>
            <a:endParaRPr lang="en-US" sz="1400" dirty="0">
              <a:solidFill>
                <a:srgbClr val="526278"/>
              </a:solidFill>
              <a:latin typeface="Arial"/>
            </a:endParaRPr>
          </a:p>
          <a:p>
            <a:pPr algn="l"/>
            <a:endParaRPr lang="en-US" sz="1400" dirty="0">
              <a:solidFill>
                <a:srgbClr val="526278"/>
              </a:solidFill>
              <a:latin typeface="Arial"/>
            </a:endParaRPr>
          </a:p>
          <a:p>
            <a:pPr algn="l"/>
            <a:endParaRPr lang="en-US" sz="1400" dirty="0"/>
          </a:p>
          <a:p>
            <a:pPr algn="l"/>
            <a:r>
              <a:rPr lang="en-US" sz="1400" b="0" dirty="0">
                <a:solidFill>
                  <a:srgbClr val="526278"/>
                </a:solidFill>
                <a:latin typeface="Arial"/>
              </a:rPr>
              <a:t>Blue: For Download · Amber: Pending · Green: Completed</a:t>
            </a:r>
            <a:endParaRPr lang="en-US" sz="1400" dirty="0"/>
          </a:p>
          <a:p>
            <a:pPr algn="l"/>
            <a:r>
              <a:rPr lang="en-US" sz="1400" b="0" dirty="0">
                <a:solidFill>
                  <a:srgbClr val="526278"/>
                </a:solidFill>
                <a:latin typeface="Arial"/>
              </a:rPr>
              <a:t>A second graph shows completed tasks by hour in Philippine time. BA and job-type filters narrow the view.</a:t>
            </a:r>
            <a:endParaRPr lang="en-US" sz="1400" dirty="0"/>
          </a:p>
        </p:txBody>
      </p:sp>
      <p:sp>
        <p:nvSpPr>
          <p:cNvPr id="11" name="Shape 11"/>
          <p:cNvSpPr/>
          <p:nvPr/>
        </p:nvSpPr>
        <p:spPr>
          <a:xfrm>
            <a:off x="8058911" y="2039112"/>
            <a:ext cx="3553968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8196072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How is progress changing?</a:t>
            </a:r>
            <a:endParaRPr lang="en-US" sz="2000"/>
          </a:p>
        </p:txBody>
      </p:sp>
      <p:sp>
        <p:nvSpPr>
          <p:cNvPr id="13" name="Shape 13"/>
          <p:cNvSpPr/>
          <p:nvPr/>
        </p:nvSpPr>
        <p:spPr>
          <a:xfrm>
            <a:off x="8196072" y="2706624"/>
            <a:ext cx="3279648" cy="26863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400" b="0" dirty="0">
                <a:solidFill>
                  <a:srgbClr val="526278"/>
                </a:solidFill>
                <a:latin typeface="Arial"/>
              </a:rPr>
              <a:t>View a seven-day grid by driver and task-created date. Each cell shows completed tasks ÷ total tasks as a percentage.</a:t>
            </a:r>
          </a:p>
          <a:p>
            <a:pPr algn="l"/>
            <a:endParaRPr lang="en-US" sz="1400" dirty="0">
              <a:solidFill>
                <a:srgbClr val="526278"/>
              </a:solidFill>
              <a:latin typeface="Arial"/>
            </a:endParaRPr>
          </a:p>
          <a:p>
            <a:pPr algn="l"/>
            <a:endParaRPr lang="en-US" sz="1400" dirty="0">
              <a:solidFill>
                <a:srgbClr val="526278"/>
              </a:solidFill>
              <a:latin typeface="Arial"/>
            </a:endParaRPr>
          </a:p>
          <a:p>
            <a:pPr algn="l"/>
            <a:endParaRPr lang="en-US" sz="1400" dirty="0"/>
          </a:p>
          <a:p>
            <a:pPr algn="l"/>
            <a:r>
              <a:rPr lang="en-US" sz="1400" b="0" dirty="0">
                <a:solidFill>
                  <a:srgbClr val="526278"/>
                </a:solidFill>
                <a:latin typeface="Arial"/>
              </a:rPr>
              <a:t>Gray: No tasks · Red: &lt;50% · Amber: 50–79% · Light green: 80–99% · Green: 100%</a:t>
            </a:r>
            <a:endParaRPr lang="en-US" sz="1400" dirty="0"/>
          </a:p>
          <a:p>
            <a:pPr algn="l"/>
            <a:r>
              <a:rPr lang="en-US" sz="1400" b="0" dirty="0">
                <a:solidFill>
                  <a:srgbClr val="526278"/>
                </a:solidFill>
                <a:latin typeface="Arial"/>
              </a:rPr>
              <a:t>Browse previous periods and refresh to review recent progress.</a:t>
            </a:r>
            <a:endParaRPr lang="en-US" sz="1400" dirty="0"/>
          </a:p>
        </p:txBody>
      </p:sp>
      <p:sp>
        <p:nvSpPr>
          <p:cNvPr id="14" name="Shape 14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Driver location updates → Live map  |  Shared task records → Summary &amp; graphs → Completion heatmap → Admin follow-up</a:t>
            </a:r>
            <a:endParaRPr lang="en-US" sz="1600"/>
          </a:p>
        </p:txBody>
      </p:sp>
      <p:sp>
        <p:nvSpPr>
          <p:cNvPr id="15" name="Shape 15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16" name="Shape 16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4 / 8</a:t>
            </a:r>
            <a:endParaRPr lang="en-US" sz="1000"/>
          </a:p>
        </p:txBody>
      </p:sp>
      <p:pic>
        <p:nvPicPr>
          <p:cNvPr id="18" name="Picture 17" descr="The image shows a horizontal split with two distinct colors, yellow on one side and green on the other.&#10;&#10;AI-generated content may be incorrect.">
            <a:extLst>
              <a:ext uri="{FF2B5EF4-FFF2-40B4-BE49-F238E27FC236}">
                <a16:creationId xmlns:a16="http://schemas.microsoft.com/office/drawing/2014/main" id="{ED300A49-5E06-60B6-A419-4F6606ADF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122" y="3770946"/>
            <a:ext cx="3143273" cy="276227"/>
          </a:xfrm>
          <a:prstGeom prst="rect">
            <a:avLst/>
          </a:prstGeom>
        </p:spPr>
      </p:pic>
      <p:pic>
        <p:nvPicPr>
          <p:cNvPr id="20" name="Picture 19" descr="The image displays a bar chart with four colored segments, representing percentages: 35% in green, 65% in blue, 90% in yellow, and 100% in red.&#10;&#10;AI-generated content may be incorrect.">
            <a:extLst>
              <a:ext uri="{FF2B5EF4-FFF2-40B4-BE49-F238E27FC236}">
                <a16:creationId xmlns:a16="http://schemas.microsoft.com/office/drawing/2014/main" id="{114D2239-D219-3793-63EC-4A15E9F60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622" y="3801138"/>
            <a:ext cx="3152798" cy="3905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DRIVER APP WORKFLOW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900" b="1" dirty="0">
                <a:solidFill>
                  <a:srgbClr val="17283E"/>
                </a:solidFill>
                <a:latin typeface="Arial"/>
              </a:rPr>
              <a:t>Driver App Flow</a:t>
            </a:r>
            <a:endParaRPr lang="en-US" sz="2900" dirty="0"/>
          </a:p>
        </p:txBody>
      </p:sp>
      <p:sp>
        <p:nvSpPr>
          <p:cNvPr id="4" name="Shape 4"/>
          <p:cNvSpPr/>
          <p:nvPr/>
        </p:nvSpPr>
        <p:spPr>
          <a:xfrm>
            <a:off x="842870" y="2071410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5" name="Shape 5"/>
          <p:cNvSpPr/>
          <p:nvPr/>
        </p:nvSpPr>
        <p:spPr>
          <a:xfrm>
            <a:off x="637720" y="212465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60" b="1">
                <a:solidFill>
                  <a:srgbClr val="007E80"/>
                </a:solidFill>
                <a:latin typeface="Arial"/>
              </a:rPr>
              <a:t>START</a:t>
            </a:r>
            <a:endParaRPr lang="en-US" sz="860"/>
          </a:p>
        </p:txBody>
      </p:sp>
      <p:sp>
        <p:nvSpPr>
          <p:cNvPr id="6" name="Shape 6"/>
          <p:cNvSpPr/>
          <p:nvPr/>
        </p:nvSpPr>
        <p:spPr>
          <a:xfrm>
            <a:off x="637720" y="234322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Validate driver ID</a:t>
            </a:r>
            <a:endParaRPr lang="en-US" sz="1191"/>
          </a:p>
        </p:txBody>
      </p:sp>
      <p:sp>
        <p:nvSpPr>
          <p:cNvPr id="7" name="Shape 7"/>
          <p:cNvSpPr/>
          <p:nvPr/>
        </p:nvSpPr>
        <p:spPr>
          <a:xfrm>
            <a:off x="3364844" y="2071410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8" name="Shape 8"/>
          <p:cNvSpPr/>
          <p:nvPr/>
        </p:nvSpPr>
        <p:spPr>
          <a:xfrm>
            <a:off x="3159694" y="216668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Select date</a:t>
            </a:r>
            <a:endParaRPr lang="en-US" sz="1191"/>
          </a:p>
        </p:txBody>
      </p:sp>
      <p:sp>
        <p:nvSpPr>
          <p:cNvPr id="9" name="Shape 9"/>
          <p:cNvSpPr/>
          <p:nvPr/>
        </p:nvSpPr>
        <p:spPr>
          <a:xfrm>
            <a:off x="3159694" y="238525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Download assignments</a:t>
            </a:r>
            <a:endParaRPr lang="en-US" sz="1191"/>
          </a:p>
        </p:txBody>
      </p:sp>
      <p:sp>
        <p:nvSpPr>
          <p:cNvPr id="10" name="Shape 10"/>
          <p:cNvSpPr/>
          <p:nvPr/>
        </p:nvSpPr>
        <p:spPr>
          <a:xfrm>
            <a:off x="5886818" y="2071410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1" name="Shape 11"/>
          <p:cNvSpPr/>
          <p:nvPr/>
        </p:nvSpPr>
        <p:spPr>
          <a:xfrm>
            <a:off x="5681668" y="216668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Find a task</a:t>
            </a:r>
            <a:endParaRPr lang="en-US" sz="1191"/>
          </a:p>
        </p:txBody>
      </p:sp>
      <p:sp>
        <p:nvSpPr>
          <p:cNvPr id="12" name="Shape 12"/>
          <p:cNvSpPr/>
          <p:nvPr/>
        </p:nvSpPr>
        <p:spPr>
          <a:xfrm>
            <a:off x="5681668" y="238525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Search / filter / scan meter QR</a:t>
            </a:r>
            <a:endParaRPr lang="en-US" sz="926"/>
          </a:p>
        </p:txBody>
      </p:sp>
      <p:sp>
        <p:nvSpPr>
          <p:cNvPr id="13" name="Shape 13"/>
          <p:cNvSpPr/>
          <p:nvPr/>
        </p:nvSpPr>
        <p:spPr>
          <a:xfrm>
            <a:off x="8408792" y="2071410"/>
            <a:ext cx="1933513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4" name="Shape 14"/>
          <p:cNvSpPr/>
          <p:nvPr/>
        </p:nvSpPr>
        <p:spPr>
          <a:xfrm>
            <a:off x="8186829" y="216668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View details / map</a:t>
            </a:r>
            <a:endParaRPr lang="en-US" sz="1191"/>
          </a:p>
        </p:txBody>
      </p:sp>
      <p:sp>
        <p:nvSpPr>
          <p:cNvPr id="15" name="Shape 15"/>
          <p:cNvSpPr/>
          <p:nvPr/>
        </p:nvSpPr>
        <p:spPr>
          <a:xfrm>
            <a:off x="8186829" y="238525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Locate and visit the customer</a:t>
            </a:r>
            <a:endParaRPr lang="en-US" sz="926"/>
          </a:p>
        </p:txBody>
      </p:sp>
      <p:cxnSp>
        <p:nvCxnSpPr>
          <p:cNvPr id="16" name="Connector 16"/>
          <p:cNvCxnSpPr/>
          <p:nvPr/>
        </p:nvCxnSpPr>
        <p:spPr>
          <a:xfrm>
            <a:off x="2818416" y="2407674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17" name="Connector 17"/>
          <p:cNvCxnSpPr/>
          <p:nvPr/>
        </p:nvCxnSpPr>
        <p:spPr>
          <a:xfrm>
            <a:off x="5340390" y="2407674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18" name="Connector 18"/>
          <p:cNvCxnSpPr/>
          <p:nvPr/>
        </p:nvCxnSpPr>
        <p:spPr>
          <a:xfrm>
            <a:off x="7862365" y="2407674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19" name="Connector 19"/>
          <p:cNvCxnSpPr/>
          <p:nvPr/>
        </p:nvCxnSpPr>
        <p:spPr>
          <a:xfrm>
            <a:off x="9375549" y="2743937"/>
            <a:ext cx="0" cy="462361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20" name="Shape 20"/>
          <p:cNvSpPr/>
          <p:nvPr/>
        </p:nvSpPr>
        <p:spPr>
          <a:xfrm>
            <a:off x="8408792" y="3206299"/>
            <a:ext cx="1933513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21" name="Shape 21"/>
          <p:cNvSpPr/>
          <p:nvPr/>
        </p:nvSpPr>
        <p:spPr>
          <a:xfrm>
            <a:off x="8186829" y="330157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Perform field work</a:t>
            </a:r>
            <a:endParaRPr lang="en-US" sz="1191"/>
          </a:p>
        </p:txBody>
      </p:sp>
      <p:sp>
        <p:nvSpPr>
          <p:cNvPr id="22" name="Shape 22"/>
          <p:cNvSpPr/>
          <p:nvPr/>
        </p:nvSpPr>
        <p:spPr>
          <a:xfrm>
            <a:off x="8186829" y="352014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Complete the assigned job</a:t>
            </a:r>
            <a:endParaRPr lang="en-US" sz="926"/>
          </a:p>
        </p:txBody>
      </p:sp>
      <p:sp>
        <p:nvSpPr>
          <p:cNvPr id="23" name="Shape 23"/>
          <p:cNvSpPr/>
          <p:nvPr/>
        </p:nvSpPr>
        <p:spPr>
          <a:xfrm>
            <a:off x="5886818" y="3206299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24" name="Shape 24"/>
          <p:cNvSpPr/>
          <p:nvPr/>
        </p:nvSpPr>
        <p:spPr>
          <a:xfrm>
            <a:off x="5681668" y="330157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Record outcome</a:t>
            </a:r>
            <a:endParaRPr lang="en-US" sz="1191"/>
          </a:p>
        </p:txBody>
      </p:sp>
      <p:sp>
        <p:nvSpPr>
          <p:cNvPr id="25" name="Shape 25"/>
          <p:cNvSpPr/>
          <p:nvPr/>
        </p:nvSpPr>
        <p:spPr>
          <a:xfrm>
            <a:off x="5681668" y="352014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Completion fields + photos</a:t>
            </a:r>
            <a:endParaRPr lang="en-US" sz="926"/>
          </a:p>
        </p:txBody>
      </p:sp>
      <p:sp>
        <p:nvSpPr>
          <p:cNvPr id="26" name="Shape 26"/>
          <p:cNvSpPr/>
          <p:nvPr/>
        </p:nvSpPr>
        <p:spPr>
          <a:xfrm>
            <a:off x="3364844" y="3206299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27" name="Shape 27"/>
          <p:cNvSpPr/>
          <p:nvPr/>
        </p:nvSpPr>
        <p:spPr>
          <a:xfrm>
            <a:off x="3159694" y="330157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Submit and save locally</a:t>
            </a:r>
            <a:endParaRPr lang="en-US" sz="1191"/>
          </a:p>
        </p:txBody>
      </p:sp>
      <p:sp>
        <p:nvSpPr>
          <p:cNvPr id="28" name="Shape 28"/>
          <p:cNvSpPr/>
          <p:nvPr/>
        </p:nvSpPr>
        <p:spPr>
          <a:xfrm>
            <a:off x="3159694" y="352014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LOCAL_COMPLETED</a:t>
            </a:r>
            <a:endParaRPr lang="en-US" sz="926"/>
          </a:p>
        </p:txBody>
      </p:sp>
      <p:cxnSp>
        <p:nvCxnSpPr>
          <p:cNvPr id="29" name="Connector 29"/>
          <p:cNvCxnSpPr/>
          <p:nvPr/>
        </p:nvCxnSpPr>
        <p:spPr>
          <a:xfrm flipH="1">
            <a:off x="7862365" y="3542562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30" name="Connector 30"/>
          <p:cNvCxnSpPr/>
          <p:nvPr/>
        </p:nvCxnSpPr>
        <p:spPr>
          <a:xfrm flipH="1">
            <a:off x="5340390" y="3542562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31" name="Connector 31"/>
          <p:cNvCxnSpPr/>
          <p:nvPr/>
        </p:nvCxnSpPr>
        <p:spPr>
          <a:xfrm flipH="1">
            <a:off x="2709131" y="3542562"/>
            <a:ext cx="655713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2" name="Shape 32"/>
          <p:cNvSpPr/>
          <p:nvPr/>
        </p:nvSpPr>
        <p:spPr>
          <a:xfrm>
            <a:off x="943749" y="3038167"/>
            <a:ext cx="1765381" cy="1008789"/>
          </a:xfrm>
          <a:prstGeom prst="diamond">
            <a:avLst/>
          </a:prstGeom>
          <a:solidFill>
            <a:srgbClr val="E5F3F2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33" name="Shape 33"/>
          <p:cNvSpPr/>
          <p:nvPr/>
        </p:nvSpPr>
        <p:spPr>
          <a:xfrm>
            <a:off x="637720" y="331838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Internet</a:t>
            </a:r>
            <a:endParaRPr lang="en-US" sz="1191"/>
          </a:p>
        </p:txBody>
      </p:sp>
      <p:sp>
        <p:nvSpPr>
          <p:cNvPr id="34" name="Shape 34"/>
          <p:cNvSpPr/>
          <p:nvPr/>
        </p:nvSpPr>
        <p:spPr>
          <a:xfrm>
            <a:off x="637720" y="351173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available?</a:t>
            </a:r>
            <a:endParaRPr lang="en-US" sz="1191"/>
          </a:p>
        </p:txBody>
      </p:sp>
      <p:cxnSp>
        <p:nvCxnSpPr>
          <p:cNvPr id="35" name="Connector 35"/>
          <p:cNvCxnSpPr/>
          <p:nvPr/>
        </p:nvCxnSpPr>
        <p:spPr>
          <a:xfrm>
            <a:off x="1826440" y="4046957"/>
            <a:ext cx="0" cy="504394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6" name="Shape 36"/>
          <p:cNvSpPr/>
          <p:nvPr/>
        </p:nvSpPr>
        <p:spPr>
          <a:xfrm>
            <a:off x="839478" y="415063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Yes</a:t>
            </a:r>
            <a:endParaRPr lang="en-US" sz="926"/>
          </a:p>
        </p:txBody>
      </p:sp>
      <p:sp>
        <p:nvSpPr>
          <p:cNvPr id="37" name="Shape 37"/>
          <p:cNvSpPr/>
          <p:nvPr/>
        </p:nvSpPr>
        <p:spPr>
          <a:xfrm>
            <a:off x="842870" y="4551352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38" name="Shape 38"/>
          <p:cNvSpPr/>
          <p:nvPr/>
        </p:nvSpPr>
        <p:spPr>
          <a:xfrm>
            <a:off x="637720" y="465503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Sync completed tasks</a:t>
            </a:r>
            <a:endParaRPr lang="en-US" sz="1191"/>
          </a:p>
        </p:txBody>
      </p:sp>
      <p:sp>
        <p:nvSpPr>
          <p:cNvPr id="39" name="Shape 39"/>
          <p:cNvSpPr/>
          <p:nvPr/>
        </p:nvSpPr>
        <p:spPr>
          <a:xfrm>
            <a:off x="637720" y="4873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Upload details and photos</a:t>
            </a:r>
            <a:endParaRPr lang="en-US" sz="926"/>
          </a:p>
        </p:txBody>
      </p:sp>
      <p:cxnSp>
        <p:nvCxnSpPr>
          <p:cNvPr id="40" name="Connector 40"/>
          <p:cNvCxnSpPr/>
          <p:nvPr/>
        </p:nvCxnSpPr>
        <p:spPr>
          <a:xfrm>
            <a:off x="2818416" y="4887615"/>
            <a:ext cx="64730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1" name="Shape 41"/>
          <p:cNvSpPr/>
          <p:nvPr/>
        </p:nvSpPr>
        <p:spPr>
          <a:xfrm>
            <a:off x="3465723" y="4383220"/>
            <a:ext cx="1765381" cy="1008789"/>
          </a:xfrm>
          <a:prstGeom prst="diamond">
            <a:avLst/>
          </a:prstGeom>
          <a:solidFill>
            <a:srgbClr val="E5F3F2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42" name="Shape 42"/>
          <p:cNvSpPr/>
          <p:nvPr/>
        </p:nvSpPr>
        <p:spPr>
          <a:xfrm>
            <a:off x="3159694" y="46634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Upload</a:t>
            </a:r>
            <a:endParaRPr lang="en-US" sz="1191"/>
          </a:p>
        </p:txBody>
      </p:sp>
      <p:sp>
        <p:nvSpPr>
          <p:cNvPr id="43" name="Shape 43"/>
          <p:cNvSpPr/>
          <p:nvPr/>
        </p:nvSpPr>
        <p:spPr>
          <a:xfrm>
            <a:off x="3159694" y="485679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successful?</a:t>
            </a:r>
            <a:endParaRPr lang="en-US" sz="1191"/>
          </a:p>
        </p:txBody>
      </p:sp>
      <p:sp>
        <p:nvSpPr>
          <p:cNvPr id="44" name="Shape 44"/>
          <p:cNvSpPr/>
          <p:nvPr/>
        </p:nvSpPr>
        <p:spPr>
          <a:xfrm>
            <a:off x="5886818" y="4551352"/>
            <a:ext cx="1975546" cy="67252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45" name="Shape 45"/>
          <p:cNvSpPr/>
          <p:nvPr/>
        </p:nvSpPr>
        <p:spPr>
          <a:xfrm>
            <a:off x="5681668" y="465503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Cloud task completed</a:t>
            </a:r>
            <a:endParaRPr lang="en-US" sz="1191"/>
          </a:p>
        </p:txBody>
      </p:sp>
      <p:sp>
        <p:nvSpPr>
          <p:cNvPr id="46" name="Shape 46"/>
          <p:cNvSpPr/>
          <p:nvPr/>
        </p:nvSpPr>
        <p:spPr>
          <a:xfrm>
            <a:off x="5681668" y="4873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Available for admin review</a:t>
            </a:r>
            <a:endParaRPr lang="en-US" sz="926"/>
          </a:p>
        </p:txBody>
      </p:sp>
      <p:cxnSp>
        <p:nvCxnSpPr>
          <p:cNvPr id="47" name="Connector 47"/>
          <p:cNvCxnSpPr/>
          <p:nvPr/>
        </p:nvCxnSpPr>
        <p:spPr>
          <a:xfrm>
            <a:off x="5231105" y="4887615"/>
            <a:ext cx="655713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8" name="Shape 48"/>
          <p:cNvSpPr/>
          <p:nvPr/>
        </p:nvSpPr>
        <p:spPr>
          <a:xfrm>
            <a:off x="4319802" y="459618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Yes</a:t>
            </a:r>
            <a:endParaRPr lang="en-US" sz="926"/>
          </a:p>
        </p:txBody>
      </p:sp>
      <p:sp>
        <p:nvSpPr>
          <p:cNvPr id="49" name="Shape 49"/>
          <p:cNvSpPr/>
          <p:nvPr/>
        </p:nvSpPr>
        <p:spPr>
          <a:xfrm>
            <a:off x="8408792" y="4551352"/>
            <a:ext cx="1933513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50" name="Shape 50"/>
          <p:cNvSpPr/>
          <p:nvPr/>
        </p:nvSpPr>
        <p:spPr>
          <a:xfrm>
            <a:off x="8186829" y="465503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Continue with next task</a:t>
            </a:r>
            <a:endParaRPr lang="en-US" sz="1191"/>
          </a:p>
        </p:txBody>
      </p:sp>
      <p:sp>
        <p:nvSpPr>
          <p:cNvPr id="51" name="Shape 51"/>
          <p:cNvSpPr/>
          <p:nvPr/>
        </p:nvSpPr>
        <p:spPr>
          <a:xfrm>
            <a:off x="8186829" y="4873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Or finish the day's work</a:t>
            </a:r>
            <a:endParaRPr lang="en-US" sz="926"/>
          </a:p>
        </p:txBody>
      </p:sp>
      <p:cxnSp>
        <p:nvCxnSpPr>
          <p:cNvPr id="52" name="Connector 52"/>
          <p:cNvCxnSpPr/>
          <p:nvPr/>
        </p:nvCxnSpPr>
        <p:spPr>
          <a:xfrm>
            <a:off x="7862365" y="4887615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53" name="Shape 53"/>
          <p:cNvSpPr/>
          <p:nvPr/>
        </p:nvSpPr>
        <p:spPr>
          <a:xfrm>
            <a:off x="3364844" y="5686240"/>
            <a:ext cx="2774171" cy="546427"/>
          </a:xfrm>
          <a:prstGeom prst="roundRect">
            <a:avLst/>
          </a:prstGeom>
          <a:solidFill>
            <a:srgbClr val="FFF3D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54" name="Shape 54"/>
          <p:cNvSpPr/>
          <p:nvPr/>
        </p:nvSpPr>
        <p:spPr>
          <a:xfrm>
            <a:off x="3563210" y="572266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Keep saved work on device</a:t>
            </a:r>
            <a:endParaRPr lang="en-US" sz="1191"/>
          </a:p>
        </p:txBody>
      </p:sp>
      <p:sp>
        <p:nvSpPr>
          <p:cNvPr id="55" name="Shape 55"/>
          <p:cNvSpPr/>
          <p:nvPr/>
        </p:nvSpPr>
        <p:spPr>
          <a:xfrm>
            <a:off x="3014570" y="59160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Reconnect and retry pending uploads</a:t>
            </a:r>
            <a:endParaRPr lang="en-US" sz="926"/>
          </a:p>
        </p:txBody>
      </p:sp>
      <p:cxnSp>
        <p:nvCxnSpPr>
          <p:cNvPr id="56" name="Connector 56"/>
          <p:cNvCxnSpPr/>
          <p:nvPr/>
        </p:nvCxnSpPr>
        <p:spPr>
          <a:xfrm flipH="1">
            <a:off x="674738" y="3542562"/>
            <a:ext cx="269010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7" name="Connector 57"/>
          <p:cNvCxnSpPr/>
          <p:nvPr/>
        </p:nvCxnSpPr>
        <p:spPr>
          <a:xfrm>
            <a:off x="674738" y="3542562"/>
            <a:ext cx="0" cy="2412688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8" name="Connector 58"/>
          <p:cNvCxnSpPr/>
          <p:nvPr/>
        </p:nvCxnSpPr>
        <p:spPr>
          <a:xfrm>
            <a:off x="674738" y="5955251"/>
            <a:ext cx="2690105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59" name="Shape 59"/>
          <p:cNvSpPr/>
          <p:nvPr/>
        </p:nvSpPr>
        <p:spPr>
          <a:xfrm>
            <a:off x="-345849" y="408338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No</a:t>
            </a:r>
            <a:endParaRPr lang="en-US" sz="926"/>
          </a:p>
        </p:txBody>
      </p:sp>
      <p:cxnSp>
        <p:nvCxnSpPr>
          <p:cNvPr id="60" name="Connector 60"/>
          <p:cNvCxnSpPr/>
          <p:nvPr/>
        </p:nvCxnSpPr>
        <p:spPr>
          <a:xfrm>
            <a:off x="4348414" y="5392010"/>
            <a:ext cx="0" cy="29423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61" name="Shape 61"/>
          <p:cNvSpPr/>
          <p:nvPr/>
        </p:nvSpPr>
        <p:spPr>
          <a:xfrm>
            <a:off x="3361452" y="541162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No</a:t>
            </a:r>
            <a:endParaRPr lang="en-US" sz="926"/>
          </a:p>
        </p:txBody>
      </p:sp>
      <p:cxnSp>
        <p:nvCxnSpPr>
          <p:cNvPr id="62" name="Connector 62"/>
          <p:cNvCxnSpPr/>
          <p:nvPr/>
        </p:nvCxnSpPr>
        <p:spPr>
          <a:xfrm flipH="1">
            <a:off x="2986548" y="6081349"/>
            <a:ext cx="378296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63" name="Connector 63"/>
          <p:cNvCxnSpPr/>
          <p:nvPr/>
        </p:nvCxnSpPr>
        <p:spPr>
          <a:xfrm flipV="1">
            <a:off x="2986548" y="5492889"/>
            <a:ext cx="0" cy="58846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64" name="Connector 64"/>
          <p:cNvCxnSpPr/>
          <p:nvPr/>
        </p:nvCxnSpPr>
        <p:spPr>
          <a:xfrm flipH="1">
            <a:off x="1826440" y="5492889"/>
            <a:ext cx="1160108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65" name="Connector 65"/>
          <p:cNvCxnSpPr/>
          <p:nvPr/>
        </p:nvCxnSpPr>
        <p:spPr>
          <a:xfrm flipV="1">
            <a:off x="1826440" y="5223878"/>
            <a:ext cx="0" cy="269010"/>
          </a:xfrm>
          <a:prstGeom prst="line">
            <a:avLst/>
          </a:prstGeom>
          <a:ln w="19050">
            <a:solidFill>
              <a:srgbClr val="536B83"/>
            </a:solidFill>
            <a:prstDash val="dash"/>
            <a:tailEnd type="triangle"/>
          </a:ln>
        </p:spPr>
      </p:cxnSp>
      <p:sp>
        <p:nvSpPr>
          <p:cNvPr id="66" name="Shape 66"/>
          <p:cNvSpPr/>
          <p:nvPr/>
        </p:nvSpPr>
        <p:spPr>
          <a:xfrm>
            <a:off x="6553740" y="5638603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Downloaded tasks support offline field work.</a:t>
            </a:r>
            <a:endParaRPr lang="en-US" sz="926"/>
          </a:p>
        </p:txBody>
      </p:sp>
      <p:sp>
        <p:nvSpPr>
          <p:cNvPr id="67" name="Shape 67"/>
          <p:cNvSpPr/>
          <p:nvPr/>
        </p:nvSpPr>
        <p:spPr>
          <a:xfrm>
            <a:off x="6553740" y="5848767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GPS / map availability depends on the device and network.</a:t>
            </a:r>
            <a:endParaRPr lang="en-US" sz="926"/>
          </a:p>
        </p:txBody>
      </p:sp>
      <p:sp>
        <p:nvSpPr>
          <p:cNvPr id="68" name="Shape 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69" name="Shape 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7 / 8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DRIVER APP FEATURES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A field workspace for every assigned task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Drivers can find their assignments, record work on site, and transfer completed results back to the administrator.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Download assignments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Use a validated driver ID, select a date, and download assigned tasks. Task counters show available work.</a:t>
            </a:r>
            <a:endParaRPr lang="en-US" sz="1600"/>
          </a:p>
        </p:txBody>
      </p:sp>
      <p:sp>
        <p:nvSpPr>
          <p:cNvPr id="8" name="Shape 8"/>
          <p:cNvSpPr/>
          <p:nvPr/>
        </p:nvSpPr>
        <p:spPr>
          <a:xfrm>
            <a:off x="4303775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4440936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Search, filter &amp; scan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4440936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Search task records, filter by date and job type, or scan a QR code to find the matching task.</a:t>
            </a:r>
            <a:endParaRPr lang="en-US" sz="1600"/>
          </a:p>
        </p:txBody>
      </p:sp>
      <p:sp>
        <p:nvSpPr>
          <p:cNvPr id="11" name="Shape 11"/>
          <p:cNvSpPr/>
          <p:nvPr/>
        </p:nvSpPr>
        <p:spPr>
          <a:xfrm>
            <a:off x="8058911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8196072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Task map &amp; GPS</a:t>
            </a:r>
            <a:endParaRPr lang="en-US" sz="2000"/>
          </a:p>
        </p:txBody>
      </p:sp>
      <p:sp>
        <p:nvSpPr>
          <p:cNvPr id="13" name="Shape 13"/>
          <p:cNvSpPr/>
          <p:nvPr/>
        </p:nvSpPr>
        <p:spPr>
          <a:xfrm>
            <a:off x="8196072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View tasks on a map, explore task clusters, and center on My Location. GPS activity updates support admin monitoring when connected.</a:t>
            </a:r>
            <a:endParaRPr lang="en-US" sz="1600"/>
          </a:p>
        </p:txBody>
      </p:sp>
      <p:sp>
        <p:nvSpPr>
          <p:cNvPr id="14" name="Shape 14"/>
          <p:cNvSpPr/>
          <p:nvPr/>
        </p:nvSpPr>
        <p:spPr>
          <a:xfrm>
            <a:off x="548640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5" name="Shape 15"/>
          <p:cNvSpPr/>
          <p:nvPr/>
        </p:nvSpPr>
        <p:spPr>
          <a:xfrm>
            <a:off x="685800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Details &amp; photo evidence</a:t>
            </a:r>
            <a:endParaRPr lang="en-US" sz="2000"/>
          </a:p>
        </p:txBody>
      </p:sp>
      <p:sp>
        <p:nvSpPr>
          <p:cNvPr id="16" name="Shape 16"/>
          <p:cNvSpPr/>
          <p:nvPr/>
        </p:nvSpPr>
        <p:spPr>
          <a:xfrm>
            <a:off x="685800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Open customer and job details, fill in the configured completion fields, and capture supporting photos before submitting.</a:t>
            </a:r>
            <a:endParaRPr lang="en-US" sz="1600"/>
          </a:p>
        </p:txBody>
      </p:sp>
      <p:sp>
        <p:nvSpPr>
          <p:cNvPr id="17" name="Shape 17"/>
          <p:cNvSpPr/>
          <p:nvPr/>
        </p:nvSpPr>
        <p:spPr>
          <a:xfrm>
            <a:off x="4303775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8" name="Shape 18"/>
          <p:cNvSpPr/>
          <p:nvPr/>
        </p:nvSpPr>
        <p:spPr>
          <a:xfrm>
            <a:off x="4440936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Save on the device</a:t>
            </a:r>
            <a:endParaRPr lang="en-US" sz="2000"/>
          </a:p>
        </p:txBody>
      </p:sp>
      <p:sp>
        <p:nvSpPr>
          <p:cNvPr id="19" name="Shape 19"/>
          <p:cNvSpPr/>
          <p:nvPr/>
        </p:nvSpPr>
        <p:spPr>
          <a:xfrm>
            <a:off x="4440936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Use previously downloaded tasks and save completion data and photos locally. The offline indicator shows connectivity status.</a:t>
            </a:r>
            <a:endParaRPr lang="en-US" sz="1600"/>
          </a:p>
        </p:txBody>
      </p:sp>
      <p:sp>
        <p:nvSpPr>
          <p:cNvPr id="20" name="Shape 20"/>
          <p:cNvSpPr/>
          <p:nvPr/>
        </p:nvSpPr>
        <p:spPr>
          <a:xfrm>
            <a:off x="8058911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21" name="Shape 21"/>
          <p:cNvSpPr/>
          <p:nvPr/>
        </p:nvSpPr>
        <p:spPr>
          <a:xfrm>
            <a:off x="8196072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Sync, retry &amp; backup</a:t>
            </a:r>
            <a:endParaRPr lang="en-US" sz="2000"/>
          </a:p>
        </p:txBody>
      </p:sp>
      <p:sp>
        <p:nvSpPr>
          <p:cNvPr id="22" name="Shape 22"/>
          <p:cNvSpPr/>
          <p:nvPr/>
        </p:nvSpPr>
        <p:spPr>
          <a:xfrm>
            <a:off x="8196072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Sync completed tasks, see upload progress and success/failure counts, and retry pending uploads. Completion backup files support recovery.</a:t>
            </a:r>
            <a:endParaRPr lang="en-US" sz="1600"/>
          </a:p>
        </p:txBody>
      </p:sp>
      <p:sp>
        <p:nvSpPr>
          <p:cNvPr id="23" name="Shape 23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Download → Search / Scan → Locate → Record &amp; Capture → Save locally → Sync</a:t>
            </a:r>
            <a:endParaRPr lang="en-US" sz="1600"/>
          </a:p>
        </p:txBody>
      </p:sp>
      <p:sp>
        <p:nvSpPr>
          <p:cNvPr id="24" name="Shape 2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25" name="Shape 2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6 / 8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OFFLINE WORK &amp; COMPLETION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Field completion continues without internet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After downloading tasks, the driver records completed work on the device. A local completion becomes a shared cloud completion after a successful upload.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5431536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5157216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Upload to the cloud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5157216" cy="2706624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Transfer task details and photos. Successful transfer marks the shared task completed, making it available for admin review and reporting.</a:t>
            </a: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6181343" y="2039112"/>
            <a:ext cx="5431536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6318503" y="2167128"/>
            <a:ext cx="5157216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Keep work on the device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6318503" y="2706624"/>
            <a:ext cx="5157216" cy="2706624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Retain the local completion. Restore connectivity and retry the upload. Recovery tools can restore saved completion backups if needed.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649223" y="4471416"/>
            <a:ext cx="11064240" cy="141732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 dirty="0">
                <a:solidFill>
                  <a:srgbClr val="526278"/>
                </a:solidFill>
                <a:latin typeface="Arial"/>
              </a:rPr>
              <a:t>Presentation status flow: Assigned / pending → Downloaded → Completed locally → Uploaded / completed</a:t>
            </a:r>
            <a:endParaRPr lang="en-US" sz="1600" dirty="0"/>
          </a:p>
          <a:p>
            <a:pPr algn="l"/>
            <a:r>
              <a:rPr lang="en-US" sz="1600" b="0" dirty="0">
                <a:solidFill>
                  <a:srgbClr val="526278"/>
                </a:solidFill>
                <a:latin typeface="Arial"/>
              </a:rPr>
              <a:t>The driver stores unsent completion as LOCAL_COMPLETED; successful cloud completion uses COMPLETED. A task saved only on the device still needs transfer before it appears as completed in shared reports.</a:t>
            </a:r>
            <a:endParaRPr lang="en-US" sz="1600" dirty="0"/>
          </a:p>
        </p:txBody>
      </p:sp>
      <p:sp>
        <p:nvSpPr>
          <p:cNvPr id="12" name="Shape 12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Downloaded task → Record outcome &amp; photos → Save locally → Check connectivity</a:t>
            </a:r>
            <a:endParaRPr lang="en-US" sz="1600"/>
          </a:p>
        </p:txBody>
      </p:sp>
      <p:sp>
        <p:nvSpPr>
          <p:cNvPr id="13" name="Shape 13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14" name="Shape 14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3 / 8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TASK VIEWER · VISIBILITY FLOW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900" b="1" dirty="0">
                <a:solidFill>
                  <a:srgbClr val="17283E"/>
                </a:solidFill>
                <a:latin typeface="Arial"/>
              </a:rPr>
              <a:t>Task Viewer Flow</a:t>
            </a:r>
            <a:endParaRPr lang="en-US" sz="2900" dirty="0"/>
          </a:p>
        </p:txBody>
      </p:sp>
      <p:sp>
        <p:nvSpPr>
          <p:cNvPr id="4" name="Shape 4"/>
          <p:cNvSpPr/>
          <p:nvPr/>
        </p:nvSpPr>
        <p:spPr>
          <a:xfrm>
            <a:off x="829290" y="2070764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5" name="Shape 5"/>
          <p:cNvSpPr/>
          <p:nvPr/>
        </p:nvSpPr>
        <p:spPr>
          <a:xfrm>
            <a:off x="562707" y="2145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Driver uploads completion</a:t>
            </a:r>
            <a:endParaRPr lang="en-US" sz="1136"/>
          </a:p>
        </p:txBody>
      </p:sp>
      <p:sp>
        <p:nvSpPr>
          <p:cNvPr id="6" name="Shape 6"/>
          <p:cNvSpPr/>
          <p:nvPr/>
        </p:nvSpPr>
        <p:spPr>
          <a:xfrm>
            <a:off x="562707" y="235408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Details and supporting photos</a:t>
            </a:r>
            <a:endParaRPr lang="en-US" sz="883"/>
          </a:p>
        </p:txBody>
      </p:sp>
      <p:sp>
        <p:nvSpPr>
          <p:cNvPr id="7" name="Shape 7"/>
          <p:cNvSpPr/>
          <p:nvPr/>
        </p:nvSpPr>
        <p:spPr>
          <a:xfrm>
            <a:off x="3234865" y="2070764"/>
            <a:ext cx="1844274" cy="64148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8" name="Shape 8"/>
          <p:cNvSpPr/>
          <p:nvPr/>
        </p:nvSpPr>
        <p:spPr>
          <a:xfrm>
            <a:off x="2968283" y="2145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Shared completed records</a:t>
            </a:r>
            <a:endParaRPr lang="en-US" sz="1136"/>
          </a:p>
        </p:txBody>
      </p:sp>
      <p:sp>
        <p:nvSpPr>
          <p:cNvPr id="9" name="Shape 9"/>
          <p:cNvSpPr/>
          <p:nvPr/>
        </p:nvSpPr>
        <p:spPr>
          <a:xfrm>
            <a:off x="2968283" y="235408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Cloud status: COMPLETED</a:t>
            </a:r>
            <a:endParaRPr lang="en-US" sz="883"/>
          </a:p>
        </p:txBody>
      </p:sp>
      <p:sp>
        <p:nvSpPr>
          <p:cNvPr id="10" name="Shape 10"/>
          <p:cNvSpPr/>
          <p:nvPr/>
        </p:nvSpPr>
        <p:spPr>
          <a:xfrm>
            <a:off x="5640441" y="2070764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1" name="Shape 11"/>
          <p:cNvSpPr/>
          <p:nvPr/>
        </p:nvSpPr>
        <p:spPr>
          <a:xfrm>
            <a:off x="5373858" y="2145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User signs in</a:t>
            </a:r>
            <a:endParaRPr lang="en-US" sz="1136"/>
          </a:p>
        </p:txBody>
      </p:sp>
      <p:sp>
        <p:nvSpPr>
          <p:cNvPr id="12" name="Shape 12"/>
          <p:cNvSpPr/>
          <p:nvPr/>
        </p:nvSpPr>
        <p:spPr>
          <a:xfrm>
            <a:off x="5373858" y="235408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Registered email and password</a:t>
            </a:r>
            <a:endParaRPr lang="en-US" sz="883"/>
          </a:p>
        </p:txBody>
      </p:sp>
      <p:sp>
        <p:nvSpPr>
          <p:cNvPr id="13" name="Shape 13"/>
          <p:cNvSpPr/>
          <p:nvPr/>
        </p:nvSpPr>
        <p:spPr>
          <a:xfrm>
            <a:off x="8046016" y="2070764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4" name="Shape 14"/>
          <p:cNvSpPr/>
          <p:nvPr/>
        </p:nvSpPr>
        <p:spPr>
          <a:xfrm>
            <a:off x="7779433" y="2145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Verify viewer access</a:t>
            </a:r>
            <a:endParaRPr lang="en-US" sz="1136"/>
          </a:p>
        </p:txBody>
      </p:sp>
      <p:sp>
        <p:nvSpPr>
          <p:cNvPr id="15" name="Shape 15"/>
          <p:cNvSpPr/>
          <p:nvPr/>
        </p:nvSpPr>
        <p:spPr>
          <a:xfrm>
            <a:off x="7779433" y="235408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Active role + assigned BA access</a:t>
            </a:r>
            <a:endParaRPr lang="en-US" sz="883"/>
          </a:p>
        </p:txBody>
      </p:sp>
      <p:cxnSp>
        <p:nvCxnSpPr>
          <p:cNvPr id="16" name="Connector 16"/>
          <p:cNvCxnSpPr/>
          <p:nvPr/>
        </p:nvCxnSpPr>
        <p:spPr>
          <a:xfrm>
            <a:off x="2673564" y="2391507"/>
            <a:ext cx="561300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17" name="Connector 17"/>
          <p:cNvCxnSpPr/>
          <p:nvPr/>
        </p:nvCxnSpPr>
        <p:spPr>
          <a:xfrm>
            <a:off x="7484715" y="2391507"/>
            <a:ext cx="561300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18" name="Shape 18"/>
          <p:cNvSpPr/>
          <p:nvPr/>
        </p:nvSpPr>
        <p:spPr>
          <a:xfrm>
            <a:off x="5640441" y="3433923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9" name="Shape 19"/>
          <p:cNvSpPr/>
          <p:nvPr/>
        </p:nvSpPr>
        <p:spPr>
          <a:xfrm>
            <a:off x="5373858" y="35087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Select From / To dates</a:t>
            </a:r>
            <a:endParaRPr lang="en-US" sz="1136"/>
          </a:p>
        </p:txBody>
      </p:sp>
      <p:sp>
        <p:nvSpPr>
          <p:cNvPr id="20" name="Shape 20"/>
          <p:cNvSpPr/>
          <p:nvPr/>
        </p:nvSpPr>
        <p:spPr>
          <a:xfrm>
            <a:off x="5373858" y="371724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Retrieve by assigned task date</a:t>
            </a:r>
            <a:endParaRPr lang="en-US" sz="883"/>
          </a:p>
        </p:txBody>
      </p:sp>
      <p:cxnSp>
        <p:nvCxnSpPr>
          <p:cNvPr id="21" name="Connector 21"/>
          <p:cNvCxnSpPr/>
          <p:nvPr/>
        </p:nvCxnSpPr>
        <p:spPr>
          <a:xfrm>
            <a:off x="8968153" y="2712251"/>
            <a:ext cx="0" cy="360836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22" name="Connector 22"/>
          <p:cNvCxnSpPr/>
          <p:nvPr/>
        </p:nvCxnSpPr>
        <p:spPr>
          <a:xfrm flipH="1">
            <a:off x="6562578" y="3073087"/>
            <a:ext cx="2405575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23" name="Connector 23"/>
          <p:cNvCxnSpPr/>
          <p:nvPr/>
        </p:nvCxnSpPr>
        <p:spPr>
          <a:xfrm>
            <a:off x="6562578" y="3073087"/>
            <a:ext cx="0" cy="360836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24" name="Shape 24"/>
          <p:cNvSpPr/>
          <p:nvPr/>
        </p:nvSpPr>
        <p:spPr>
          <a:xfrm>
            <a:off x="829290" y="3433923"/>
            <a:ext cx="1844274" cy="64148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25" name="Shape 25"/>
          <p:cNvSpPr/>
          <p:nvPr/>
        </p:nvSpPr>
        <p:spPr>
          <a:xfrm>
            <a:off x="562707" y="35087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Saved task snapshots</a:t>
            </a:r>
            <a:endParaRPr lang="en-US" sz="1136"/>
          </a:p>
        </p:txBody>
      </p:sp>
      <p:sp>
        <p:nvSpPr>
          <p:cNvPr id="26" name="Shape 26"/>
          <p:cNvSpPr/>
          <p:nvPr/>
        </p:nvSpPr>
        <p:spPr>
          <a:xfrm>
            <a:off x="562707" y="371724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Cache first; check for updates</a:t>
            </a:r>
            <a:endParaRPr lang="en-US" sz="883"/>
          </a:p>
        </p:txBody>
      </p:sp>
      <p:sp>
        <p:nvSpPr>
          <p:cNvPr id="27" name="Shape 27"/>
          <p:cNvSpPr/>
          <p:nvPr/>
        </p:nvSpPr>
        <p:spPr>
          <a:xfrm>
            <a:off x="3234865" y="3433923"/>
            <a:ext cx="1844274" cy="64148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28" name="Shape 28"/>
          <p:cNvSpPr/>
          <p:nvPr/>
        </p:nvSpPr>
        <p:spPr>
          <a:xfrm>
            <a:off x="2968283" y="35087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Read completed tasks</a:t>
            </a:r>
            <a:endParaRPr lang="en-US" sz="1136"/>
          </a:p>
        </p:txBody>
      </p:sp>
      <p:sp>
        <p:nvSpPr>
          <p:cNvPr id="29" name="Shape 29"/>
          <p:cNvSpPr/>
          <p:nvPr/>
        </p:nvSpPr>
        <p:spPr>
          <a:xfrm>
            <a:off x="2968283" y="371724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Firestore within allowed BAs</a:t>
            </a:r>
            <a:endParaRPr lang="en-US" sz="883"/>
          </a:p>
        </p:txBody>
      </p:sp>
      <p:cxnSp>
        <p:nvCxnSpPr>
          <p:cNvPr id="30" name="Connector 30"/>
          <p:cNvCxnSpPr/>
          <p:nvPr/>
        </p:nvCxnSpPr>
        <p:spPr>
          <a:xfrm>
            <a:off x="4157003" y="2712251"/>
            <a:ext cx="0" cy="721672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31" name="Connector 31"/>
          <p:cNvCxnSpPr/>
          <p:nvPr/>
        </p:nvCxnSpPr>
        <p:spPr>
          <a:xfrm flipH="1">
            <a:off x="5079140" y="3754667"/>
            <a:ext cx="561300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32" name="Connector 32"/>
          <p:cNvCxnSpPr/>
          <p:nvPr/>
        </p:nvCxnSpPr>
        <p:spPr>
          <a:xfrm flipV="1">
            <a:off x="6562578" y="3193366"/>
            <a:ext cx="0" cy="240557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33" name="Connector 33"/>
          <p:cNvCxnSpPr/>
          <p:nvPr/>
        </p:nvCxnSpPr>
        <p:spPr>
          <a:xfrm flipH="1">
            <a:off x="1751427" y="3193366"/>
            <a:ext cx="4811150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34" name="Connector 34"/>
          <p:cNvCxnSpPr/>
          <p:nvPr/>
        </p:nvCxnSpPr>
        <p:spPr>
          <a:xfrm>
            <a:off x="1751427" y="3193366"/>
            <a:ext cx="0" cy="240557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5" name="Shape 35"/>
          <p:cNvSpPr/>
          <p:nvPr/>
        </p:nvSpPr>
        <p:spPr>
          <a:xfrm>
            <a:off x="3128654" y="290736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Selected date range</a:t>
            </a:r>
            <a:endParaRPr lang="en-US" sz="883"/>
          </a:p>
        </p:txBody>
      </p:sp>
      <p:sp>
        <p:nvSpPr>
          <p:cNvPr id="36" name="Shape 36"/>
          <p:cNvSpPr/>
          <p:nvPr/>
        </p:nvSpPr>
        <p:spPr>
          <a:xfrm>
            <a:off x="829290" y="4877268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37" name="Shape 37"/>
          <p:cNvSpPr/>
          <p:nvPr/>
        </p:nvSpPr>
        <p:spPr>
          <a:xfrm>
            <a:off x="562707" y="495210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Combine task records</a:t>
            </a:r>
            <a:endParaRPr lang="en-US" sz="1136"/>
          </a:p>
        </p:txBody>
      </p:sp>
      <p:sp>
        <p:nvSpPr>
          <p:cNvPr id="38" name="Shape 38"/>
          <p:cNvSpPr/>
          <p:nvPr/>
        </p:nvSpPr>
        <p:spPr>
          <a:xfrm>
            <a:off x="562707" y="516059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Merge snapshots and live records</a:t>
            </a:r>
            <a:endParaRPr lang="en-US" sz="883"/>
          </a:p>
        </p:txBody>
      </p:sp>
      <p:sp>
        <p:nvSpPr>
          <p:cNvPr id="39" name="Shape 39"/>
          <p:cNvSpPr/>
          <p:nvPr/>
        </p:nvSpPr>
        <p:spPr>
          <a:xfrm>
            <a:off x="3234865" y="4877268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40" name="Shape 40"/>
          <p:cNvSpPr/>
          <p:nvPr/>
        </p:nvSpPr>
        <p:spPr>
          <a:xfrm>
            <a:off x="2968283" y="495210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Apply access and filters</a:t>
            </a:r>
            <a:endParaRPr lang="en-US" sz="1136"/>
          </a:p>
        </p:txBody>
      </p:sp>
      <p:sp>
        <p:nvSpPr>
          <p:cNvPr id="41" name="Shape 41"/>
          <p:cNvSpPr/>
          <p:nvPr/>
        </p:nvSpPr>
        <p:spPr>
          <a:xfrm>
            <a:off x="2968283" y="516059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Configured BA, user BA, search</a:t>
            </a:r>
            <a:endParaRPr lang="en-US" sz="883"/>
          </a:p>
        </p:txBody>
      </p:sp>
      <p:sp>
        <p:nvSpPr>
          <p:cNvPr id="42" name="Shape 42"/>
          <p:cNvSpPr/>
          <p:nvPr/>
        </p:nvSpPr>
        <p:spPr>
          <a:xfrm>
            <a:off x="5640441" y="4877268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43" name="Shape 43"/>
          <p:cNvSpPr/>
          <p:nvPr/>
        </p:nvSpPr>
        <p:spPr>
          <a:xfrm>
            <a:off x="5373858" y="495210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Display matching tasks</a:t>
            </a:r>
            <a:endParaRPr lang="en-US" sz="1136"/>
          </a:p>
        </p:txBody>
      </p:sp>
      <p:sp>
        <p:nvSpPr>
          <p:cNvPr id="44" name="Shape 44"/>
          <p:cNvSpPr/>
          <p:nvPr/>
        </p:nvSpPr>
        <p:spPr>
          <a:xfrm>
            <a:off x="4825218" y="516059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Task cards with Prev / Next pages</a:t>
            </a:r>
            <a:endParaRPr lang="en-US" sz="883"/>
          </a:p>
        </p:txBody>
      </p:sp>
      <p:sp>
        <p:nvSpPr>
          <p:cNvPr id="45" name="Shape 45"/>
          <p:cNvSpPr/>
          <p:nvPr/>
        </p:nvSpPr>
        <p:spPr>
          <a:xfrm>
            <a:off x="8046016" y="4877268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46" name="Shape 46"/>
          <p:cNvSpPr/>
          <p:nvPr/>
        </p:nvSpPr>
        <p:spPr>
          <a:xfrm>
            <a:off x="7779433" y="495210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Review details and photos</a:t>
            </a:r>
            <a:endParaRPr lang="en-US" sz="1136"/>
          </a:p>
        </p:txBody>
      </p:sp>
      <p:sp>
        <p:nvSpPr>
          <p:cNvPr id="47" name="Shape 47"/>
          <p:cNvSpPr/>
          <p:nvPr/>
        </p:nvSpPr>
        <p:spPr>
          <a:xfrm>
            <a:off x="7779433" y="516059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Expand header → Load Photos</a:t>
            </a:r>
            <a:endParaRPr lang="en-US" sz="883"/>
          </a:p>
        </p:txBody>
      </p:sp>
      <p:cxnSp>
        <p:nvCxnSpPr>
          <p:cNvPr id="48" name="Connector 48"/>
          <p:cNvCxnSpPr/>
          <p:nvPr/>
        </p:nvCxnSpPr>
        <p:spPr>
          <a:xfrm>
            <a:off x="1751427" y="4075410"/>
            <a:ext cx="0" cy="801858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49" name="Connector 49"/>
          <p:cNvCxnSpPr/>
          <p:nvPr/>
        </p:nvCxnSpPr>
        <p:spPr>
          <a:xfrm>
            <a:off x="4157003" y="4075410"/>
            <a:ext cx="0" cy="408947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0" name="Connector 50"/>
          <p:cNvCxnSpPr/>
          <p:nvPr/>
        </p:nvCxnSpPr>
        <p:spPr>
          <a:xfrm flipH="1">
            <a:off x="1751427" y="4484358"/>
            <a:ext cx="2405575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1" name="Connector 51"/>
          <p:cNvCxnSpPr/>
          <p:nvPr/>
        </p:nvCxnSpPr>
        <p:spPr>
          <a:xfrm>
            <a:off x="1751427" y="4484358"/>
            <a:ext cx="0" cy="39291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52" name="Connector 52"/>
          <p:cNvCxnSpPr/>
          <p:nvPr/>
        </p:nvCxnSpPr>
        <p:spPr>
          <a:xfrm>
            <a:off x="2673564" y="5198012"/>
            <a:ext cx="561300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53" name="Connector 53"/>
          <p:cNvCxnSpPr/>
          <p:nvPr/>
        </p:nvCxnSpPr>
        <p:spPr>
          <a:xfrm>
            <a:off x="5079140" y="5198012"/>
            <a:ext cx="561300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54" name="Connector 54"/>
          <p:cNvCxnSpPr/>
          <p:nvPr/>
        </p:nvCxnSpPr>
        <p:spPr>
          <a:xfrm>
            <a:off x="7484715" y="5198012"/>
            <a:ext cx="561300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55" name="Shape 55"/>
          <p:cNvSpPr/>
          <p:nvPr/>
        </p:nvSpPr>
        <p:spPr>
          <a:xfrm>
            <a:off x="6696924" y="406204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Not authorized → access denied</a:t>
            </a:r>
            <a:endParaRPr lang="en-US" sz="883"/>
          </a:p>
        </p:txBody>
      </p:sp>
      <p:sp>
        <p:nvSpPr>
          <p:cNvPr id="56" name="Shape 56"/>
          <p:cNvSpPr/>
          <p:nvPr/>
        </p:nvSpPr>
        <p:spPr>
          <a:xfrm>
            <a:off x="6148284" y="426251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No matching records → No tasks found</a:t>
            </a:r>
            <a:endParaRPr lang="en-US" sz="883"/>
          </a:p>
        </p:txBody>
      </p:sp>
      <p:sp>
        <p:nvSpPr>
          <p:cNvPr id="57" name="Shape 57"/>
          <p:cNvSpPr/>
          <p:nvPr/>
        </p:nvSpPr>
        <p:spPr>
          <a:xfrm>
            <a:off x="3622430" y="5745948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20" b="1">
                <a:solidFill>
                  <a:srgbClr val="007E80"/>
                </a:solidFill>
                <a:latin typeface="Arial"/>
              </a:rPr>
              <a:t>Visible task = completed record in the chosen date range + allowed BA + matching filters</a:t>
            </a:r>
            <a:endParaRPr lang="en-US" sz="820"/>
          </a:p>
        </p:txBody>
      </p:sp>
      <p:sp>
        <p:nvSpPr>
          <p:cNvPr id="58" name="Shape 58"/>
          <p:cNvSpPr/>
          <p:nvPr/>
        </p:nvSpPr>
        <p:spPr>
          <a:xfrm>
            <a:off x="3622430" y="5970469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Work saved only on the driver device still needs a successful upload to become a shared completion.</a:t>
            </a:r>
            <a:endParaRPr lang="en-US" sz="883"/>
          </a:p>
        </p:txBody>
      </p:sp>
      <p:sp>
        <p:nvSpPr>
          <p:cNvPr id="59" name="Shape 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60" name="Shape 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10 / 11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TASK VIEWER · HOW IT WORKS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From shared completion records to a review screen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Task Viewer combines saved records with current database checks, then displays completed work within each user's authorized BA access.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Identify the viewer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After sign-in, the system checks the account's active Task Viewer role and assigned BAs. Unauthorized accounts are redirected to login.</a:t>
            </a:r>
            <a:endParaRPr lang="en-US" sz="1600"/>
          </a:p>
        </p:txBody>
      </p:sp>
      <p:sp>
        <p:nvSpPr>
          <p:cNvPr id="8" name="Shape 8"/>
          <p:cNvSpPr/>
          <p:nvPr/>
        </p:nvSpPr>
        <p:spPr>
          <a:xfrm>
            <a:off x="4303775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4440936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Read saved snapshots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4440936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For the selected dates, cached snapshots can appear first. The system checks published snapshots for changes and refreshes the saved copies.</a:t>
            </a:r>
            <a:endParaRPr lang="en-US" sz="1600"/>
          </a:p>
        </p:txBody>
      </p:sp>
      <p:sp>
        <p:nvSpPr>
          <p:cNvPr id="11" name="Shape 11"/>
          <p:cNvSpPr/>
          <p:nvPr/>
        </p:nvSpPr>
        <p:spPr>
          <a:xfrm>
            <a:off x="8058911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8196072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Check completed tasks</a:t>
            </a:r>
            <a:endParaRPr lang="en-US" sz="2000"/>
          </a:p>
        </p:txBody>
      </p:sp>
      <p:sp>
        <p:nvSpPr>
          <p:cNvPr id="13" name="Shape 13"/>
          <p:cNvSpPr/>
          <p:nvPr/>
        </p:nvSpPr>
        <p:spPr>
          <a:xfrm>
            <a:off x="8196072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The database query retrieves completed tasks by assigned date and allowed configured BAs. Work saved only on a driver device needs upload first.</a:t>
            </a:r>
            <a:endParaRPr lang="en-US" sz="1600"/>
          </a:p>
        </p:txBody>
      </p:sp>
      <p:sp>
        <p:nvSpPr>
          <p:cNvPr id="14" name="Shape 14"/>
          <p:cNvSpPr/>
          <p:nvPr/>
        </p:nvSpPr>
        <p:spPr>
          <a:xfrm>
            <a:off x="548640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5" name="Shape 15"/>
          <p:cNvSpPr/>
          <p:nvPr/>
        </p:nvSpPr>
        <p:spPr>
          <a:xfrm>
            <a:off x="685800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Build the result list</a:t>
            </a:r>
            <a:endParaRPr lang="en-US" sz="2000"/>
          </a:p>
        </p:txBody>
      </p:sp>
      <p:sp>
        <p:nvSpPr>
          <p:cNvPr id="16" name="Shape 16"/>
          <p:cNvSpPr/>
          <p:nvPr/>
        </p:nvSpPr>
        <p:spPr>
          <a:xfrm>
            <a:off x="685800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Records are merged by task ID, with live records replacing matching snapshots. BA access, selected BA filters, and search determine what is displayed.</a:t>
            </a:r>
            <a:endParaRPr lang="en-US" sz="1600"/>
          </a:p>
        </p:txBody>
      </p:sp>
      <p:sp>
        <p:nvSpPr>
          <p:cNvPr id="17" name="Shape 17"/>
          <p:cNvSpPr/>
          <p:nvPr/>
        </p:nvSpPr>
        <p:spPr>
          <a:xfrm>
            <a:off x="4303775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8" name="Shape 18"/>
          <p:cNvSpPr/>
          <p:nvPr/>
        </p:nvSpPr>
        <p:spPr>
          <a:xfrm>
            <a:off x="4440936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Show task information</a:t>
            </a:r>
            <a:endParaRPr lang="en-US" sz="2000"/>
          </a:p>
        </p:txBody>
      </p:sp>
      <p:sp>
        <p:nvSpPr>
          <p:cNvPr id="19" name="Shape 19"/>
          <p:cNvSpPr/>
          <p:nvPr/>
        </p:nvSpPr>
        <p:spPr>
          <a:xfrm>
            <a:off x="4440936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Matching records appear as paginated task cards. Expanding a card shows customer details, the assigned driver, completion time, and result fields.</a:t>
            </a:r>
            <a:endParaRPr lang="en-US" sz="1600"/>
          </a:p>
        </p:txBody>
      </p:sp>
      <p:sp>
        <p:nvSpPr>
          <p:cNvPr id="20" name="Shape 20"/>
          <p:cNvSpPr/>
          <p:nvPr/>
        </p:nvSpPr>
        <p:spPr>
          <a:xfrm>
            <a:off x="8058911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21" name="Shape 21"/>
          <p:cNvSpPr/>
          <p:nvPr/>
        </p:nvSpPr>
        <p:spPr>
          <a:xfrm>
            <a:off x="8196072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Load photos on request</a:t>
            </a:r>
            <a:endParaRPr lang="en-US" sz="2000"/>
          </a:p>
        </p:txBody>
      </p:sp>
      <p:sp>
        <p:nvSpPr>
          <p:cNvPr id="22" name="Shape 22"/>
          <p:cNvSpPr/>
          <p:nvPr/>
        </p:nvSpPr>
        <p:spPr>
          <a:xfrm>
            <a:off x="8196072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Load Photos retrieves images from recorded photo links when requested. Click a thumbnail to open the full image. Task details are read-only.</a:t>
            </a:r>
            <a:endParaRPr lang="en-US" sz="1600"/>
          </a:p>
        </p:txBody>
      </p:sp>
      <p:sp>
        <p:nvSpPr>
          <p:cNvPr id="23" name="Shape 23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Check access → Read cache &amp; check database → Merge records → Filter results → Review evidence</a:t>
            </a:r>
            <a:endParaRPr lang="en-US" sz="1600"/>
          </a:p>
        </p:txBody>
      </p:sp>
      <p:sp>
        <p:nvSpPr>
          <p:cNvPr id="24" name="Shape 2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25" name="Shape 2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11 / 11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1707</Words>
  <Application>Microsoft Office PowerPoint</Application>
  <PresentationFormat>Widescreen</PresentationFormat>
  <Paragraphs>252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Ross Nitura</cp:lastModifiedBy>
  <cp:revision>4</cp:revision>
  <dcterms:modified xsi:type="dcterms:W3CDTF">2026-10-09T11:56:27Z</dcterms:modified>
</cp:coreProperties>
</file>