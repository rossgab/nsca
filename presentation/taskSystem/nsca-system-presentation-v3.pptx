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NSCA · SYSTEM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task assignment to completed work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 shared workflow for administrators and drivers, with local storage supporting field work when internet access is unavailable.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Import tasks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Upload a CSV containing customer, location, and job details.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Assign a driver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Select tasks and assign them to the responsible driver.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tasks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assigned work onto the device for use in the field.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Perform field work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 details and maps, record the outcome, and capture supporting photos.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completed work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Transfer locally completed task data and photos when connected.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Monitor and report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Review task progress and evidence, then export task reports.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Import → Assign → Download → Perform → Upload → Review &amp; Report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 / 9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ROLES &amp; INFORMATION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users and system connect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The cloud holds shared task records. The driver device holds downloaded work and completed items awaiting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57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2286000" y="205740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Import CSV → Assign tasks → Monitor drivers and tasks → Review evidence → Export reports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548640" y="28803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Cloud system</a:t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286000" y="288036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task records ↔ Exchange task updates with devices</a:t>
            </a:r>
            <a:endParaRPr lang="en-US" sz="1700"/>
          </a:p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uploaded photos → Provide completion data for dashboards and reports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548640" y="37033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Driver</a:t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2286000" y="370332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Select / validate driver ID → Download assigned tasks → Visit location → Record outcome and photos → Upload</a:t>
            </a:r>
            <a:endParaRPr lang="en-US" sz="1700"/>
          </a:p>
        </p:txBody>
      </p:sp>
      <p:sp>
        <p:nvSpPr>
          <p:cNvPr id="11" name="Shape 11"/>
          <p:cNvSpPr/>
          <p:nvPr/>
        </p:nvSpPr>
        <p:spPr>
          <a:xfrm>
            <a:off x="548640" y="4526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2286000" y="452628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Keep downloaded tasks → Save field completion locally → Retain work awaiting successful transfer</a:t>
            </a:r>
            <a:endParaRPr lang="en-US" sz="1700"/>
          </a:p>
        </p:txBody>
      </p:sp>
      <p:sp>
        <p:nvSpPr>
          <p:cNvPr id="13" name="Shape 1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Shared visibility: task status, completion details, supporting photos, and driver location updates when available.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2 / 9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OFFLINE WORK &amp; COMPLETION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Field completion continues without internet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After downloading tasks, the driver records completed work on the device. A local completion becomes a shared cloud completion after a successful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to the cloud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Transfer task details and photos. Successful transfer marks the shared task completed, making it available for admin review and reporting.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6181343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6318503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Keep work on the device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318503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Retain the local completion. Restore connectivity and retry the upload. Recovery tools can restore saved completion backups if needed.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48640" y="4160520"/>
            <a:ext cx="1106424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Presentation status flow: Assigned / pending → Downloaded → Completed locally → Uploaded / completed</a:t>
            </a:r>
            <a:endParaRPr lang="en-US" sz="1600"/>
          </a:p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The driver stores unsent completion as LOCAL_COMPLETED; successful cloud completion uses COMPLETED. A task saved only on the device still needs transfer before it appears as completed in shared reports.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Downloaded task → Record outcome &amp; photos → Save locally → Check connectivity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3 / 9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MONITORING &amp; OPERATIONAL VISIBILITY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See driver activity, workload, and progress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Three dashboard views help administrators locate drivers, compare outstanding work, and track completion across days.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Where are drivers?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reported GPS locations and driver activity. Select a driver to inspect their location and open tasks.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Activity reflects the latest driver update; location refreshes depend on GPS and connectivity.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much work remains?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Compare each driver's For Download, Pending, and Completed counts using the summary table and stacked workload bars.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Blue: For Download · Amber: Pending · Green: Completed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 second graph shows completed tasks by hour in Philippine time. BA and job-type filters narrow the view.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is progress changing?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a seven-day grid by driver and task-created date. Each cell shows completed tasks ÷ total tasks as a percentage.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Gray: No tasks · Red: &lt;50% · Amber: 50–79% · Light green: 80–99% · Green: 100%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Browse previous periods and refresh to review recent progress.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Driver location updates → Live map  |  Shared task records → Summary &amp; graphs → Completion heatmap → Admin follow-up</a:t>
            </a:r>
            <a:endParaRPr lang="en-US" sz="1600"/>
          </a:p>
        </p:txBody>
      </p:sp>
      <p:sp>
        <p:nvSpPr>
          <p:cNvPr id="15" name="Shape 15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4 / 9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COMPLETE SYSTEM FLOWCHART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system works from start to finish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16908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295028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6" name="Shape 6"/>
          <p:cNvSpPr/>
          <p:nvPr/>
        </p:nvSpPr>
        <p:spPr>
          <a:xfrm>
            <a:off x="295028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Import task CSV</a:t>
            </a:r>
            <a:endParaRPr lang="en-US" sz="1086"/>
          </a:p>
        </p:txBody>
      </p:sp>
      <p:sp>
        <p:nvSpPr>
          <p:cNvPr id="7" name="Shape 7"/>
          <p:cNvSpPr/>
          <p:nvPr/>
        </p:nvSpPr>
        <p:spPr>
          <a:xfrm>
            <a:off x="2541494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019613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9" name="Shape 9"/>
          <p:cNvSpPr/>
          <p:nvPr/>
        </p:nvSpPr>
        <p:spPr>
          <a:xfrm>
            <a:off x="2019613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Assign driver</a:t>
            </a:r>
            <a:endParaRPr lang="en-US" sz="1086"/>
          </a:p>
        </p:txBody>
      </p:sp>
      <p:sp>
        <p:nvSpPr>
          <p:cNvPr id="10" name="Shape 10"/>
          <p:cNvSpPr/>
          <p:nvPr/>
        </p:nvSpPr>
        <p:spPr>
          <a:xfrm>
            <a:off x="4266079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3744199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</a:t>
            </a:r>
            <a:endParaRPr lang="en-US" sz="784"/>
          </a:p>
        </p:txBody>
      </p:sp>
      <p:sp>
        <p:nvSpPr>
          <p:cNvPr id="12" name="Shape 12"/>
          <p:cNvSpPr/>
          <p:nvPr/>
        </p:nvSpPr>
        <p:spPr>
          <a:xfrm>
            <a:off x="3744199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Download tasks</a:t>
            </a:r>
            <a:endParaRPr lang="en-US" sz="1086"/>
          </a:p>
        </p:txBody>
      </p:sp>
      <p:sp>
        <p:nvSpPr>
          <p:cNvPr id="13" name="Shape 13"/>
          <p:cNvSpPr/>
          <p:nvPr/>
        </p:nvSpPr>
        <p:spPr>
          <a:xfrm>
            <a:off x="5990664" y="1993526"/>
            <a:ext cx="153296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568427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 · FIELD WORK</a:t>
            </a:r>
            <a:endParaRPr lang="en-US" sz="784"/>
          </a:p>
        </p:txBody>
      </p:sp>
      <p:sp>
        <p:nvSpPr>
          <p:cNvPr id="15" name="Shape 15"/>
          <p:cNvSpPr/>
          <p:nvPr/>
        </p:nvSpPr>
        <p:spPr>
          <a:xfrm>
            <a:off x="5568427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Outcome + photos</a:t>
            </a:r>
            <a:endParaRPr lang="en-US" sz="1086"/>
          </a:p>
        </p:txBody>
      </p:sp>
      <p:sp>
        <p:nvSpPr>
          <p:cNvPr id="16" name="Shape 16"/>
          <p:cNvSpPr/>
          <p:nvPr/>
        </p:nvSpPr>
        <p:spPr>
          <a:xfrm>
            <a:off x="7906870" y="1993526"/>
            <a:ext cx="1571288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7" name="Shape 17"/>
          <p:cNvSpPr/>
          <p:nvPr/>
        </p:nvSpPr>
        <p:spPr>
          <a:xfrm>
            <a:off x="7499962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784"/>
          </a:p>
        </p:txBody>
      </p:sp>
      <p:sp>
        <p:nvSpPr>
          <p:cNvPr id="18" name="Shape 18"/>
          <p:cNvSpPr/>
          <p:nvPr/>
        </p:nvSpPr>
        <p:spPr>
          <a:xfrm>
            <a:off x="7499962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Save locally</a:t>
            </a:r>
            <a:endParaRPr lang="en-US" sz="1086"/>
          </a:p>
        </p:txBody>
      </p:sp>
      <p:cxnSp>
        <p:nvCxnSpPr>
          <p:cNvPr id="19" name="Connector 19"/>
          <p:cNvCxnSpPr/>
          <p:nvPr/>
        </p:nvCxnSpPr>
        <p:spPr>
          <a:xfrm flipH="0" flipV="0">
            <a:off x="2158252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 flipH="0" flipV="0">
            <a:off x="3882838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 flipH="0" flipV="0">
            <a:off x="5607423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 flipH="0" flipV="0">
            <a:off x="7523629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3" name="Connector 23"/>
          <p:cNvCxnSpPr/>
          <p:nvPr/>
        </p:nvCxnSpPr>
        <p:spPr>
          <a:xfrm flipH="0" flipV="0">
            <a:off x="8688682" y="2568388"/>
            <a:ext cx="0" cy="32192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7975854" y="2890310"/>
            <a:ext cx="1425657" cy="735823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7499962" y="303849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Internet</a:t>
            </a:r>
            <a:endParaRPr lang="en-US" sz="1086"/>
          </a:p>
        </p:txBody>
      </p:sp>
      <p:sp>
        <p:nvSpPr>
          <p:cNvPr id="26" name="Shape 26"/>
          <p:cNvSpPr/>
          <p:nvPr/>
        </p:nvSpPr>
        <p:spPr>
          <a:xfrm>
            <a:off x="7499962" y="319945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086"/>
          </a:p>
        </p:txBody>
      </p:sp>
      <p:sp>
        <p:nvSpPr>
          <p:cNvPr id="27" name="Shape 27"/>
          <p:cNvSpPr/>
          <p:nvPr/>
        </p:nvSpPr>
        <p:spPr>
          <a:xfrm>
            <a:off x="5990664" y="2966959"/>
            <a:ext cx="1532964" cy="58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5568427" y="301550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Upload details</a:t>
            </a:r>
            <a:endParaRPr lang="en-US" sz="1086"/>
          </a:p>
        </p:txBody>
      </p:sp>
      <p:sp>
        <p:nvSpPr>
          <p:cNvPr id="29" name="Shape 29"/>
          <p:cNvSpPr/>
          <p:nvPr/>
        </p:nvSpPr>
        <p:spPr>
          <a:xfrm>
            <a:off x="5568427" y="319179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and photos</a:t>
            </a:r>
            <a:endParaRPr lang="en-US" sz="1086"/>
          </a:p>
        </p:txBody>
      </p:sp>
      <p:cxnSp>
        <p:nvCxnSpPr>
          <p:cNvPr id="30" name="Connector 30"/>
          <p:cNvCxnSpPr/>
          <p:nvPr/>
        </p:nvCxnSpPr>
        <p:spPr>
          <a:xfrm flipH="1" flipV="0">
            <a:off x="7523629" y="3258222"/>
            <a:ext cx="45222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1" name="Shape 31"/>
          <p:cNvSpPr/>
          <p:nvPr/>
        </p:nvSpPr>
        <p:spPr>
          <a:xfrm>
            <a:off x="6564854" y="296951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Yes</a:t>
            </a:r>
            <a:endParaRPr lang="en-US" sz="844"/>
          </a:p>
        </p:txBody>
      </p:sp>
      <p:sp>
        <p:nvSpPr>
          <p:cNvPr id="32" name="Shape 32"/>
          <p:cNvSpPr/>
          <p:nvPr/>
        </p:nvSpPr>
        <p:spPr>
          <a:xfrm>
            <a:off x="7906870" y="3932726"/>
            <a:ext cx="1571288" cy="628515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7499962" y="396594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Keep work on device</a:t>
            </a:r>
            <a:endParaRPr lang="en-US" sz="1086"/>
          </a:p>
        </p:txBody>
      </p:sp>
      <p:sp>
        <p:nvSpPr>
          <p:cNvPr id="34" name="Shape 34"/>
          <p:cNvSpPr/>
          <p:nvPr/>
        </p:nvSpPr>
        <p:spPr>
          <a:xfrm>
            <a:off x="7499962" y="41575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Reconnect / retry</a:t>
            </a:r>
            <a:endParaRPr lang="en-US" sz="844"/>
          </a:p>
        </p:txBody>
      </p:sp>
      <p:cxnSp>
        <p:nvCxnSpPr>
          <p:cNvPr id="35" name="Connector 35"/>
          <p:cNvCxnSpPr/>
          <p:nvPr/>
        </p:nvCxnSpPr>
        <p:spPr>
          <a:xfrm flipH="0" flipV="0">
            <a:off x="8688682" y="3626133"/>
            <a:ext cx="0" cy="30659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7668588" y="364401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No</a:t>
            </a:r>
            <a:endParaRPr lang="en-US" sz="844"/>
          </a:p>
        </p:txBody>
      </p:sp>
      <p:cxnSp>
        <p:nvCxnSpPr>
          <p:cNvPr id="37" name="Connector 37"/>
          <p:cNvCxnSpPr/>
          <p:nvPr/>
        </p:nvCxnSpPr>
        <p:spPr>
          <a:xfrm flipH="0" flipV="0">
            <a:off x="9478159" y="4246984"/>
            <a:ext cx="13796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8" name="Connector 38"/>
          <p:cNvCxnSpPr/>
          <p:nvPr/>
        </p:nvCxnSpPr>
        <p:spPr>
          <a:xfrm flipH="0" flipV="1">
            <a:off x="9616126" y="3258222"/>
            <a:ext cx="0" cy="988762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9" name="Connector 39"/>
          <p:cNvCxnSpPr/>
          <p:nvPr/>
        </p:nvCxnSpPr>
        <p:spPr>
          <a:xfrm flipH="1" flipV="0">
            <a:off x="9401511" y="3258222"/>
            <a:ext cx="214615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cxnSp>
        <p:nvCxnSpPr>
          <p:cNvPr id="40" name="Connector 40"/>
          <p:cNvCxnSpPr/>
          <p:nvPr/>
        </p:nvCxnSpPr>
        <p:spPr>
          <a:xfrm flipH="0" flipV="0">
            <a:off x="6757147" y="3549485"/>
            <a:ext cx="0" cy="69749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1" name="Connector 41"/>
          <p:cNvCxnSpPr/>
          <p:nvPr/>
        </p:nvCxnSpPr>
        <p:spPr>
          <a:xfrm flipH="0" flipV="0">
            <a:off x="6757147" y="4246984"/>
            <a:ext cx="114972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2" name="Shape 42"/>
          <p:cNvSpPr/>
          <p:nvPr/>
        </p:nvSpPr>
        <p:spPr>
          <a:xfrm>
            <a:off x="6028316" y="398127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Upload fails</a:t>
            </a:r>
            <a:endParaRPr lang="en-US" sz="844"/>
          </a:p>
        </p:txBody>
      </p:sp>
      <p:sp>
        <p:nvSpPr>
          <p:cNvPr id="43" name="Shape 43"/>
          <p:cNvSpPr/>
          <p:nvPr/>
        </p:nvSpPr>
        <p:spPr>
          <a:xfrm>
            <a:off x="3921162" y="2966959"/>
            <a:ext cx="1686261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4" name="Shape 44"/>
          <p:cNvSpPr/>
          <p:nvPr/>
        </p:nvSpPr>
        <p:spPr>
          <a:xfrm>
            <a:off x="3575572" y="29925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Shared task records</a:t>
            </a:r>
            <a:endParaRPr lang="en-US" sz="1086"/>
          </a:p>
        </p:txBody>
      </p:sp>
      <p:sp>
        <p:nvSpPr>
          <p:cNvPr id="45" name="Shape 45"/>
          <p:cNvSpPr/>
          <p:nvPr/>
        </p:nvSpPr>
        <p:spPr>
          <a:xfrm>
            <a:off x="3575572" y="318412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Successful upload: COMPLETED</a:t>
            </a:r>
            <a:endParaRPr lang="en-US" sz="844"/>
          </a:p>
        </p:txBody>
      </p:sp>
      <p:cxnSp>
        <p:nvCxnSpPr>
          <p:cNvPr id="46" name="Connector 46"/>
          <p:cNvCxnSpPr/>
          <p:nvPr/>
        </p:nvCxnSpPr>
        <p:spPr>
          <a:xfrm flipH="1" flipV="0">
            <a:off x="5607423" y="3258222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4610324" y="29465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</a:t>
            </a:r>
            <a:endParaRPr lang="en-US" sz="844"/>
          </a:p>
        </p:txBody>
      </p:sp>
      <p:cxnSp>
        <p:nvCxnSpPr>
          <p:cNvPr id="48" name="Connector 48"/>
          <p:cNvCxnSpPr/>
          <p:nvPr/>
        </p:nvCxnSpPr>
        <p:spPr>
          <a:xfrm flipH="0" flipV="0">
            <a:off x="3208333" y="2568388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9" name="Connector 49"/>
          <p:cNvCxnSpPr/>
          <p:nvPr/>
        </p:nvCxnSpPr>
        <p:spPr>
          <a:xfrm flipH="0" flipV="0">
            <a:off x="3208333" y="2775338"/>
            <a:ext cx="155595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 flipH="0" flipV="0">
            <a:off x="4764292" y="2775338"/>
            <a:ext cx="0" cy="19162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1" name="Shape 51"/>
          <p:cNvSpPr/>
          <p:nvPr/>
        </p:nvSpPr>
        <p:spPr>
          <a:xfrm>
            <a:off x="2349201" y="25326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Assigned records</a:t>
            </a:r>
            <a:endParaRPr lang="en-US" sz="844"/>
          </a:p>
        </p:txBody>
      </p:sp>
      <p:sp>
        <p:nvSpPr>
          <p:cNvPr id="52" name="Shape 52"/>
          <p:cNvSpPr/>
          <p:nvPr/>
        </p:nvSpPr>
        <p:spPr>
          <a:xfrm>
            <a:off x="816908" y="2966959"/>
            <a:ext cx="2184474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3" name="Shape 53"/>
          <p:cNvSpPr/>
          <p:nvPr/>
        </p:nvSpPr>
        <p:spPr>
          <a:xfrm>
            <a:off x="716593" y="30078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Driver GPS + activity updates</a:t>
            </a:r>
            <a:endParaRPr lang="en-US" sz="1086"/>
          </a:p>
        </p:txBody>
      </p:sp>
      <p:sp>
        <p:nvSpPr>
          <p:cNvPr id="54" name="Shape 54"/>
          <p:cNvSpPr/>
          <p:nvPr/>
        </p:nvSpPr>
        <p:spPr>
          <a:xfrm>
            <a:off x="167953" y="319179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When location and connectivity allow</a:t>
            </a:r>
            <a:endParaRPr lang="en-US" sz="844"/>
          </a:p>
        </p:txBody>
      </p:sp>
      <p:cxnSp>
        <p:nvCxnSpPr>
          <p:cNvPr id="55" name="Connector 55"/>
          <p:cNvCxnSpPr/>
          <p:nvPr/>
        </p:nvCxnSpPr>
        <p:spPr>
          <a:xfrm flipH="0" flipV="0">
            <a:off x="1905313" y="3549485"/>
            <a:ext cx="0" cy="139499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6" name="Connector 56"/>
          <p:cNvCxnSpPr/>
          <p:nvPr/>
        </p:nvCxnSpPr>
        <p:spPr>
          <a:xfrm flipH="0" flipV="0">
            <a:off x="4764292" y="3549485"/>
            <a:ext cx="0" cy="114972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1" flipV="0">
            <a:off x="3859843" y="4699209"/>
            <a:ext cx="90444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 flipH="0" flipV="0">
            <a:off x="3859843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9" name="Connector 59"/>
          <p:cNvCxnSpPr/>
          <p:nvPr/>
        </p:nvCxnSpPr>
        <p:spPr>
          <a:xfrm flipH="0" flipV="0">
            <a:off x="4764292" y="4699209"/>
            <a:ext cx="116505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0" name="Connector 60"/>
          <p:cNvCxnSpPr/>
          <p:nvPr/>
        </p:nvCxnSpPr>
        <p:spPr>
          <a:xfrm flipH="0" flipV="0">
            <a:off x="5929346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61" name="Connector 61"/>
          <p:cNvCxnSpPr/>
          <p:nvPr/>
        </p:nvCxnSpPr>
        <p:spPr>
          <a:xfrm flipH="0" flipV="0">
            <a:off x="5929346" y="4699209"/>
            <a:ext cx="245274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2" name="Connector 62"/>
          <p:cNvCxnSpPr/>
          <p:nvPr/>
        </p:nvCxnSpPr>
        <p:spPr>
          <a:xfrm flipH="0" flipV="0">
            <a:off x="8382089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3" name="Shape 63"/>
          <p:cNvSpPr/>
          <p:nvPr/>
        </p:nvSpPr>
        <p:spPr>
          <a:xfrm>
            <a:off x="3652221" y="43721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 MONITORING &amp; REVIEW</a:t>
            </a:r>
            <a:endParaRPr lang="en-US" sz="784"/>
          </a:p>
        </p:txBody>
      </p:sp>
      <p:sp>
        <p:nvSpPr>
          <p:cNvPr id="64" name="Shape 64"/>
          <p:cNvSpPr/>
          <p:nvPr/>
        </p:nvSpPr>
        <p:spPr>
          <a:xfrm>
            <a:off x="816908" y="4944483"/>
            <a:ext cx="2184474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5" name="Shape 65"/>
          <p:cNvSpPr/>
          <p:nvPr/>
        </p:nvSpPr>
        <p:spPr>
          <a:xfrm>
            <a:off x="716593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Live driver map</a:t>
            </a:r>
            <a:endParaRPr lang="en-US" sz="1086"/>
          </a:p>
        </p:txBody>
      </p:sp>
      <p:sp>
        <p:nvSpPr>
          <p:cNvPr id="66" name="Shape 66"/>
          <p:cNvSpPr/>
          <p:nvPr/>
        </p:nvSpPr>
        <p:spPr>
          <a:xfrm>
            <a:off x="167953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Location · Active / Idle / Offline</a:t>
            </a:r>
            <a:endParaRPr lang="en-US" sz="844"/>
          </a:p>
        </p:txBody>
      </p:sp>
      <p:sp>
        <p:nvSpPr>
          <p:cNvPr id="67" name="Shape 67"/>
          <p:cNvSpPr/>
          <p:nvPr/>
        </p:nvSpPr>
        <p:spPr>
          <a:xfrm>
            <a:off x="319300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8" name="Shape 68"/>
          <p:cNvSpPr/>
          <p:nvPr/>
        </p:nvSpPr>
        <p:spPr>
          <a:xfrm>
            <a:off x="288573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Task summary + graphs</a:t>
            </a:r>
            <a:endParaRPr lang="en-US" sz="1086"/>
          </a:p>
        </p:txBody>
      </p:sp>
      <p:sp>
        <p:nvSpPr>
          <p:cNvPr id="69" name="Shape 69"/>
          <p:cNvSpPr/>
          <p:nvPr/>
        </p:nvSpPr>
        <p:spPr>
          <a:xfrm>
            <a:off x="2885738" y="5192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Workload · Completions by hour</a:t>
            </a:r>
            <a:endParaRPr lang="en-US" sz="844"/>
          </a:p>
        </p:txBody>
      </p:sp>
      <p:sp>
        <p:nvSpPr>
          <p:cNvPr id="70" name="Shape 70"/>
          <p:cNvSpPr/>
          <p:nvPr/>
        </p:nvSpPr>
        <p:spPr>
          <a:xfrm>
            <a:off x="514753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71" name="Shape 71"/>
          <p:cNvSpPr/>
          <p:nvPr/>
        </p:nvSpPr>
        <p:spPr>
          <a:xfrm>
            <a:off x="484026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7-day completion heatmap</a:t>
            </a:r>
            <a:endParaRPr lang="en-US" sz="1086"/>
          </a:p>
        </p:txBody>
      </p:sp>
      <p:sp>
        <p:nvSpPr>
          <p:cNvPr id="72" name="Shape 72"/>
          <p:cNvSpPr/>
          <p:nvPr/>
        </p:nvSpPr>
        <p:spPr>
          <a:xfrm>
            <a:off x="4291628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Completed / total by created date</a:t>
            </a:r>
            <a:endParaRPr lang="en-US" sz="844"/>
          </a:p>
        </p:txBody>
      </p:sp>
      <p:sp>
        <p:nvSpPr>
          <p:cNvPr id="73" name="Shape 73"/>
          <p:cNvSpPr/>
          <p:nvPr/>
        </p:nvSpPr>
        <p:spPr>
          <a:xfrm>
            <a:off x="7102064" y="4944483"/>
            <a:ext cx="2376095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74" name="Shape 74"/>
          <p:cNvSpPr/>
          <p:nvPr/>
        </p:nvSpPr>
        <p:spPr>
          <a:xfrm>
            <a:off x="7101391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Review evidence + export reports</a:t>
            </a:r>
            <a:endParaRPr lang="en-US" sz="1086"/>
          </a:p>
        </p:txBody>
      </p:sp>
      <p:sp>
        <p:nvSpPr>
          <p:cNvPr id="75" name="Shape 75"/>
          <p:cNvSpPr/>
          <p:nvPr/>
        </p:nvSpPr>
        <p:spPr>
          <a:xfrm>
            <a:off x="6552751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Task details · Photos · Report filters</a:t>
            </a:r>
            <a:endParaRPr lang="en-US" sz="844"/>
          </a:p>
        </p:txBody>
      </p:sp>
      <p:cxnSp>
        <p:nvCxnSpPr>
          <p:cNvPr id="76" name="Connector 76"/>
          <p:cNvCxnSpPr/>
          <p:nvPr/>
        </p:nvCxnSpPr>
        <p:spPr>
          <a:xfrm flipH="0" flipV="0">
            <a:off x="1905313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7" name="Connector 77"/>
          <p:cNvCxnSpPr/>
          <p:nvPr/>
        </p:nvCxnSpPr>
        <p:spPr>
          <a:xfrm flipH="0" flipV="0">
            <a:off x="1905313" y="5802943"/>
            <a:ext cx="324222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8" name="Connector 78"/>
          <p:cNvCxnSpPr/>
          <p:nvPr/>
        </p:nvCxnSpPr>
        <p:spPr>
          <a:xfrm flipH="0" flipV="0">
            <a:off x="5147534" y="5802943"/>
            <a:ext cx="0" cy="199285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79" name="Connector 79"/>
          <p:cNvCxnSpPr/>
          <p:nvPr/>
        </p:nvCxnSpPr>
        <p:spPr>
          <a:xfrm flipH="0" flipV="0">
            <a:off x="407445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0" name="Connector 80"/>
          <p:cNvCxnSpPr/>
          <p:nvPr/>
        </p:nvCxnSpPr>
        <p:spPr>
          <a:xfrm flipH="0" flipV="0">
            <a:off x="602898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1" name="Connector 81"/>
          <p:cNvCxnSpPr/>
          <p:nvPr/>
        </p:nvCxnSpPr>
        <p:spPr>
          <a:xfrm flipH="1" flipV="0">
            <a:off x="5147534" y="5802943"/>
            <a:ext cx="88145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2" name="Connector 82"/>
          <p:cNvCxnSpPr/>
          <p:nvPr/>
        </p:nvCxnSpPr>
        <p:spPr>
          <a:xfrm flipH="0" flipV="0">
            <a:off x="8290111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3" name="Connector 83"/>
          <p:cNvCxnSpPr/>
          <p:nvPr/>
        </p:nvCxnSpPr>
        <p:spPr>
          <a:xfrm flipH="1" flipV="0">
            <a:off x="6028988" y="5802943"/>
            <a:ext cx="2261122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84" name="Shape 84"/>
          <p:cNvSpPr/>
          <p:nvPr/>
        </p:nvSpPr>
        <p:spPr>
          <a:xfrm>
            <a:off x="3410174" y="602777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Admin follow-up and workload decisions</a:t>
            </a:r>
            <a:endParaRPr lang="en-US" sz="108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5 / 9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FEATURES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A field workspace for every assigned task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Drivers can find their assignments, record work on site, and transfer completed results back to the administrator.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assignments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a validated driver ID, select a date, and download assigned tasks. Task counters show available work.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Search, filter &amp; scan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Search task records, filter by date and job type, or scan a QR code to find the matching task.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Task map &amp; GPS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tasks on a map, explore task clusters, and center on My Location. GPS activity updates support admin monitoring when connected.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Details &amp; photo evidence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customer and job details, fill in the configured completion fields, and capture supporting photos before submitting.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Save on the device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previously downloaded tasks and save completion data and photos locally. The offline indicator shows connectivity status.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Sync, retry &amp; backup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Sync completed tasks, see upload progress and success/failure counts, and retry pending uploads. Completion backup files support recovery.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 → Search / Scan → Locate → Record &amp; Capture → Save locally → Sync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6 / 9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WORKFLOW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assignment download to completed upload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42870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637720" y="212465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START</a:t>
            </a:r>
            <a:endParaRPr lang="en-US" sz="860"/>
          </a:p>
        </p:txBody>
      </p:sp>
      <p:sp>
        <p:nvSpPr>
          <p:cNvPr id="6" name="Shape 6"/>
          <p:cNvSpPr/>
          <p:nvPr/>
        </p:nvSpPr>
        <p:spPr>
          <a:xfrm>
            <a:off x="637720" y="234322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Validate driver ID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364844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3159694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Select date</a:t>
            </a:r>
            <a:endParaRPr lang="en-US" sz="1191"/>
          </a:p>
        </p:txBody>
      </p:sp>
      <p:sp>
        <p:nvSpPr>
          <p:cNvPr id="9" name="Shape 9"/>
          <p:cNvSpPr/>
          <p:nvPr/>
        </p:nvSpPr>
        <p:spPr>
          <a:xfrm>
            <a:off x="3159694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10" name="Shape 10"/>
          <p:cNvSpPr/>
          <p:nvPr/>
        </p:nvSpPr>
        <p:spPr>
          <a:xfrm>
            <a:off x="5886818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681668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 task</a:t>
            </a:r>
            <a:endParaRPr lang="en-US" sz="1191"/>
          </a:p>
        </p:txBody>
      </p:sp>
      <p:sp>
        <p:nvSpPr>
          <p:cNvPr id="12" name="Shape 12"/>
          <p:cNvSpPr/>
          <p:nvPr/>
        </p:nvSpPr>
        <p:spPr>
          <a:xfrm>
            <a:off x="5681668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 / filter / scan meter QR</a:t>
            </a:r>
            <a:endParaRPr lang="en-US" sz="926"/>
          </a:p>
        </p:txBody>
      </p:sp>
      <p:sp>
        <p:nvSpPr>
          <p:cNvPr id="13" name="Shape 13"/>
          <p:cNvSpPr/>
          <p:nvPr/>
        </p:nvSpPr>
        <p:spPr>
          <a:xfrm>
            <a:off x="8408792" y="2071410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8186829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View details / map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8186829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Locate and visit the customer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2818416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 flipH="0" flipV="0">
            <a:off x="5340390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8" name="Connector 18"/>
          <p:cNvCxnSpPr/>
          <p:nvPr/>
        </p:nvCxnSpPr>
        <p:spPr>
          <a:xfrm flipH="0" flipV="0">
            <a:off x="7862365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9" name="Connector 19"/>
          <p:cNvCxnSpPr/>
          <p:nvPr/>
        </p:nvCxnSpPr>
        <p:spPr>
          <a:xfrm flipH="0" flipV="0">
            <a:off x="9375549" y="2743937"/>
            <a:ext cx="0" cy="462361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8408792" y="3206299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86829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Perform field work</a:t>
            </a:r>
            <a:endParaRPr lang="en-US" sz="1191"/>
          </a:p>
        </p:txBody>
      </p:sp>
      <p:sp>
        <p:nvSpPr>
          <p:cNvPr id="22" name="Shape 22"/>
          <p:cNvSpPr/>
          <p:nvPr/>
        </p:nvSpPr>
        <p:spPr>
          <a:xfrm>
            <a:off x="8186829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Complete the assigned job</a:t>
            </a:r>
            <a:endParaRPr lang="en-US" sz="926"/>
          </a:p>
        </p:txBody>
      </p:sp>
      <p:sp>
        <p:nvSpPr>
          <p:cNvPr id="23" name="Shape 23"/>
          <p:cNvSpPr/>
          <p:nvPr/>
        </p:nvSpPr>
        <p:spPr>
          <a:xfrm>
            <a:off x="5886818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4" name="Shape 24"/>
          <p:cNvSpPr/>
          <p:nvPr/>
        </p:nvSpPr>
        <p:spPr>
          <a:xfrm>
            <a:off x="5681668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outcome</a:t>
            </a:r>
            <a:endParaRPr lang="en-US" sz="1191"/>
          </a:p>
        </p:txBody>
      </p:sp>
      <p:sp>
        <p:nvSpPr>
          <p:cNvPr id="25" name="Shape 25"/>
          <p:cNvSpPr/>
          <p:nvPr/>
        </p:nvSpPr>
        <p:spPr>
          <a:xfrm>
            <a:off x="5681668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Completion fields + photos</a:t>
            </a:r>
            <a:endParaRPr lang="en-US" sz="926"/>
          </a:p>
        </p:txBody>
      </p:sp>
      <p:sp>
        <p:nvSpPr>
          <p:cNvPr id="26" name="Shape 26"/>
          <p:cNvSpPr/>
          <p:nvPr/>
        </p:nvSpPr>
        <p:spPr>
          <a:xfrm>
            <a:off x="3364844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7" name="Shape 27"/>
          <p:cNvSpPr/>
          <p:nvPr/>
        </p:nvSpPr>
        <p:spPr>
          <a:xfrm>
            <a:off x="3159694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Submit and save locally</a:t>
            </a:r>
            <a:endParaRPr lang="en-US" sz="1191"/>
          </a:p>
        </p:txBody>
      </p:sp>
      <p:sp>
        <p:nvSpPr>
          <p:cNvPr id="28" name="Shape 28"/>
          <p:cNvSpPr/>
          <p:nvPr/>
        </p:nvSpPr>
        <p:spPr>
          <a:xfrm>
            <a:off x="3159694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LOCAL_COMPLETED</a:t>
            </a:r>
            <a:endParaRPr lang="en-US" sz="926"/>
          </a:p>
        </p:txBody>
      </p:sp>
      <p:cxnSp>
        <p:nvCxnSpPr>
          <p:cNvPr id="29" name="Connector 29"/>
          <p:cNvCxnSpPr/>
          <p:nvPr/>
        </p:nvCxnSpPr>
        <p:spPr>
          <a:xfrm flipH="1" flipV="0">
            <a:off x="7862365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0" name="Connector 30"/>
          <p:cNvCxnSpPr/>
          <p:nvPr/>
        </p:nvCxnSpPr>
        <p:spPr>
          <a:xfrm flipH="1" flipV="0">
            <a:off x="5340390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 flipV="0">
            <a:off x="2709131" y="3542562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2" name="Shape 32"/>
          <p:cNvSpPr/>
          <p:nvPr/>
        </p:nvSpPr>
        <p:spPr>
          <a:xfrm>
            <a:off x="943749" y="3038167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637720" y="33183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Internet</a:t>
            </a:r>
            <a:endParaRPr lang="en-US" sz="1191"/>
          </a:p>
        </p:txBody>
      </p:sp>
      <p:sp>
        <p:nvSpPr>
          <p:cNvPr id="34" name="Shape 34"/>
          <p:cNvSpPr/>
          <p:nvPr/>
        </p:nvSpPr>
        <p:spPr>
          <a:xfrm>
            <a:off x="637720" y="35117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191"/>
          </a:p>
        </p:txBody>
      </p:sp>
      <p:cxnSp>
        <p:nvCxnSpPr>
          <p:cNvPr id="35" name="Connector 35"/>
          <p:cNvCxnSpPr/>
          <p:nvPr/>
        </p:nvCxnSpPr>
        <p:spPr>
          <a:xfrm flipH="0" flipV="0">
            <a:off x="1826440" y="4046957"/>
            <a:ext cx="0" cy="50439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839478" y="41506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37" name="Shape 37"/>
          <p:cNvSpPr/>
          <p:nvPr/>
        </p:nvSpPr>
        <p:spPr>
          <a:xfrm>
            <a:off x="842870" y="4551352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8" name="Shape 38"/>
          <p:cNvSpPr/>
          <p:nvPr/>
        </p:nvSpPr>
        <p:spPr>
          <a:xfrm>
            <a:off x="637720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tasks</a:t>
            </a:r>
            <a:endParaRPr lang="en-US" sz="1191"/>
          </a:p>
        </p:txBody>
      </p:sp>
      <p:sp>
        <p:nvSpPr>
          <p:cNvPr id="39" name="Shape 39"/>
          <p:cNvSpPr/>
          <p:nvPr/>
        </p:nvSpPr>
        <p:spPr>
          <a:xfrm>
            <a:off x="637720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details and photos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 flipH="0" flipV="0">
            <a:off x="2818416" y="4887615"/>
            <a:ext cx="64730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1" name="Shape 41"/>
          <p:cNvSpPr/>
          <p:nvPr/>
        </p:nvSpPr>
        <p:spPr>
          <a:xfrm>
            <a:off x="3465723" y="4383220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2" name="Shape 42"/>
          <p:cNvSpPr/>
          <p:nvPr/>
        </p:nvSpPr>
        <p:spPr>
          <a:xfrm>
            <a:off x="3159694" y="4663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Upload</a:t>
            </a:r>
            <a:endParaRPr lang="en-US" sz="1191"/>
          </a:p>
        </p:txBody>
      </p:sp>
      <p:sp>
        <p:nvSpPr>
          <p:cNvPr id="43" name="Shape 43"/>
          <p:cNvSpPr/>
          <p:nvPr/>
        </p:nvSpPr>
        <p:spPr>
          <a:xfrm>
            <a:off x="3159694" y="485679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successful?</a:t>
            </a:r>
            <a:endParaRPr lang="en-US" sz="1191"/>
          </a:p>
        </p:txBody>
      </p:sp>
      <p:sp>
        <p:nvSpPr>
          <p:cNvPr id="44" name="Shape 44"/>
          <p:cNvSpPr/>
          <p:nvPr/>
        </p:nvSpPr>
        <p:spPr>
          <a:xfrm>
            <a:off x="5886818" y="4551352"/>
            <a:ext cx="1975546" cy="67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5" name="Shape 45"/>
          <p:cNvSpPr/>
          <p:nvPr/>
        </p:nvSpPr>
        <p:spPr>
          <a:xfrm>
            <a:off x="5681668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Cloud task completed</a:t>
            </a:r>
            <a:endParaRPr lang="en-US" sz="1191"/>
          </a:p>
        </p:txBody>
      </p:sp>
      <p:sp>
        <p:nvSpPr>
          <p:cNvPr id="46" name="Shape 46"/>
          <p:cNvSpPr/>
          <p:nvPr/>
        </p:nvSpPr>
        <p:spPr>
          <a:xfrm>
            <a:off x="5681668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Available for admin review</a:t>
            </a:r>
            <a:endParaRPr lang="en-US" sz="926"/>
          </a:p>
        </p:txBody>
      </p:sp>
      <p:cxnSp>
        <p:nvCxnSpPr>
          <p:cNvPr id="47" name="Connector 47"/>
          <p:cNvCxnSpPr/>
          <p:nvPr/>
        </p:nvCxnSpPr>
        <p:spPr>
          <a:xfrm flipH="0" flipV="0">
            <a:off x="5231105" y="4887615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8" name="Shape 48"/>
          <p:cNvSpPr/>
          <p:nvPr/>
        </p:nvSpPr>
        <p:spPr>
          <a:xfrm>
            <a:off x="4319802" y="45961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49" name="Shape 49"/>
          <p:cNvSpPr/>
          <p:nvPr/>
        </p:nvSpPr>
        <p:spPr>
          <a:xfrm>
            <a:off x="8408792" y="4551352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0" name="Shape 50"/>
          <p:cNvSpPr/>
          <p:nvPr/>
        </p:nvSpPr>
        <p:spPr>
          <a:xfrm>
            <a:off x="8186829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Continue with next task</a:t>
            </a:r>
            <a:endParaRPr lang="en-US" sz="1191"/>
          </a:p>
        </p:txBody>
      </p:sp>
      <p:sp>
        <p:nvSpPr>
          <p:cNvPr id="51" name="Shape 51"/>
          <p:cNvSpPr/>
          <p:nvPr/>
        </p:nvSpPr>
        <p:spPr>
          <a:xfrm>
            <a:off x="8186829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Or finish the day's work</a:t>
            </a:r>
            <a:endParaRPr lang="en-US" sz="926"/>
          </a:p>
        </p:txBody>
      </p:sp>
      <p:cxnSp>
        <p:nvCxnSpPr>
          <p:cNvPr id="52" name="Connector 52"/>
          <p:cNvCxnSpPr/>
          <p:nvPr/>
        </p:nvCxnSpPr>
        <p:spPr>
          <a:xfrm flipH="0" flipV="0">
            <a:off x="7862365" y="4887615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3" name="Shape 53"/>
          <p:cNvSpPr/>
          <p:nvPr/>
        </p:nvSpPr>
        <p:spPr>
          <a:xfrm>
            <a:off x="3364844" y="5686240"/>
            <a:ext cx="2774171" cy="546427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54" name="Shape 54"/>
          <p:cNvSpPr/>
          <p:nvPr/>
        </p:nvSpPr>
        <p:spPr>
          <a:xfrm>
            <a:off x="3563210" y="57226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Keep saved work on device</a:t>
            </a:r>
            <a:endParaRPr lang="en-US" sz="1191"/>
          </a:p>
        </p:txBody>
      </p:sp>
      <p:sp>
        <p:nvSpPr>
          <p:cNvPr id="55" name="Shape 55"/>
          <p:cNvSpPr/>
          <p:nvPr/>
        </p:nvSpPr>
        <p:spPr>
          <a:xfrm>
            <a:off x="3014570" y="59160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pending uploads</a:t>
            </a:r>
            <a:endParaRPr lang="en-US" sz="926"/>
          </a:p>
        </p:txBody>
      </p:sp>
      <p:cxnSp>
        <p:nvCxnSpPr>
          <p:cNvPr id="56" name="Connector 56"/>
          <p:cNvCxnSpPr/>
          <p:nvPr/>
        </p:nvCxnSpPr>
        <p:spPr>
          <a:xfrm flipH="1" flipV="0">
            <a:off x="674738" y="3542562"/>
            <a:ext cx="26901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0" flipV="0">
            <a:off x="674738" y="3542562"/>
            <a:ext cx="0" cy="241268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 flipH="0" flipV="0">
            <a:off x="674738" y="5955251"/>
            <a:ext cx="2690105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9" name="Shape 59"/>
          <p:cNvSpPr/>
          <p:nvPr/>
        </p:nvSpPr>
        <p:spPr>
          <a:xfrm>
            <a:off x="-345849" y="40833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0" name="Connector 60"/>
          <p:cNvCxnSpPr/>
          <p:nvPr/>
        </p:nvCxnSpPr>
        <p:spPr>
          <a:xfrm flipH="0" flipV="0">
            <a:off x="4348414" y="5392010"/>
            <a:ext cx="0" cy="29423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1" name="Shape 61"/>
          <p:cNvSpPr/>
          <p:nvPr/>
        </p:nvSpPr>
        <p:spPr>
          <a:xfrm>
            <a:off x="3361452" y="541162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2" name="Connector 62"/>
          <p:cNvCxnSpPr/>
          <p:nvPr/>
        </p:nvCxnSpPr>
        <p:spPr>
          <a:xfrm flipH="1" flipV="0">
            <a:off x="2986548" y="6081349"/>
            <a:ext cx="37829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3" name="Connector 63"/>
          <p:cNvCxnSpPr/>
          <p:nvPr/>
        </p:nvCxnSpPr>
        <p:spPr>
          <a:xfrm flipH="0" flipV="1">
            <a:off x="2986548" y="5492889"/>
            <a:ext cx="0" cy="58846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4" name="Connector 64"/>
          <p:cNvCxnSpPr/>
          <p:nvPr/>
        </p:nvCxnSpPr>
        <p:spPr>
          <a:xfrm flipH="1" flipV="0">
            <a:off x="1826440" y="5492889"/>
            <a:ext cx="1160108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5" name="Connector 65"/>
          <p:cNvCxnSpPr/>
          <p:nvPr/>
        </p:nvCxnSpPr>
        <p:spPr>
          <a:xfrm flipH="0" flipV="1">
            <a:off x="1826440" y="5223878"/>
            <a:ext cx="0" cy="26901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66" name="Shape 66"/>
          <p:cNvSpPr/>
          <p:nvPr/>
        </p:nvSpPr>
        <p:spPr>
          <a:xfrm>
            <a:off x="6553740" y="563860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Downloaded tasks support offline field work.</a:t>
            </a:r>
            <a:endParaRPr lang="en-US" sz="926"/>
          </a:p>
        </p:txBody>
      </p:sp>
      <p:sp>
        <p:nvSpPr>
          <p:cNvPr id="67" name="Shape 67"/>
          <p:cNvSpPr/>
          <p:nvPr/>
        </p:nvSpPr>
        <p:spPr>
          <a:xfrm>
            <a:off x="6553740" y="5848767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map availability depends on the device and network.</a:t>
            </a:r>
            <a:endParaRPr lang="en-US" sz="92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7 / 9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ADMIN &amp; DRIVER · HIGH-LEVEL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administrators and drivers work together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78874" y="192289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ADMIN FLOW</a:t>
            </a:r>
            <a:endParaRPr lang="en-US" sz="860"/>
          </a:p>
        </p:txBody>
      </p:sp>
      <p:sp>
        <p:nvSpPr>
          <p:cNvPr id="5" name="Shape 5"/>
          <p:cNvSpPr/>
          <p:nvPr/>
        </p:nvSpPr>
        <p:spPr>
          <a:xfrm>
            <a:off x="842870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578874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Import tasks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0234" y="2595421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Customer, location, and job details</a:t>
            </a:r>
            <a:endParaRPr lang="en-US" sz="926"/>
          </a:p>
        </p:txBody>
      </p:sp>
      <p:cxnSp>
        <p:nvCxnSpPr>
          <p:cNvPr id="8" name="Connector 8"/>
          <p:cNvCxnSpPr/>
          <p:nvPr/>
        </p:nvCxnSpPr>
        <p:spPr>
          <a:xfrm flipH="0" flipV="0">
            <a:off x="2692318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3364844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3100848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Assign drivers</a:t>
            </a:r>
            <a:endParaRPr lang="en-US" sz="1191"/>
          </a:p>
        </p:txBody>
      </p:sp>
      <p:sp>
        <p:nvSpPr>
          <p:cNvPr id="11" name="Shape 11"/>
          <p:cNvSpPr/>
          <p:nvPr/>
        </p:nvSpPr>
        <p:spPr>
          <a:xfrm>
            <a:off x="3100848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Distribute the workload</a:t>
            </a:r>
            <a:endParaRPr lang="en-US" sz="926"/>
          </a:p>
        </p:txBody>
      </p:sp>
      <p:cxnSp>
        <p:nvCxnSpPr>
          <p:cNvPr id="12" name="Connector 12"/>
          <p:cNvCxnSpPr/>
          <p:nvPr/>
        </p:nvCxnSpPr>
        <p:spPr>
          <a:xfrm flipH="0" flipV="0">
            <a:off x="5214292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5886818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622822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Monitor operations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5622822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Live map, graphs, and heatmap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 flipH="0" flipV="0">
            <a:off x="7736266" y="2634651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8408792" y="2281575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8144796" y="237685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Review and report</a:t>
            </a:r>
            <a:endParaRPr lang="en-US" sz="1191"/>
          </a:p>
        </p:txBody>
      </p:sp>
      <p:sp>
        <p:nvSpPr>
          <p:cNvPr id="19" name="Shape 19"/>
          <p:cNvSpPr/>
          <p:nvPr/>
        </p:nvSpPr>
        <p:spPr>
          <a:xfrm>
            <a:off x="8144796" y="259542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Evidence, results, and exports</a:t>
            </a:r>
            <a:endParaRPr lang="en-US" sz="926"/>
          </a:p>
        </p:txBody>
      </p:sp>
      <p:sp>
        <p:nvSpPr>
          <p:cNvPr id="20" name="Shape 20"/>
          <p:cNvSpPr/>
          <p:nvPr/>
        </p:nvSpPr>
        <p:spPr>
          <a:xfrm>
            <a:off x="578874" y="38564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DRIVER FLOW</a:t>
            </a:r>
            <a:endParaRPr lang="en-US" sz="860"/>
          </a:p>
        </p:txBody>
      </p:sp>
      <p:sp>
        <p:nvSpPr>
          <p:cNvPr id="21" name="Shape 21"/>
          <p:cNvSpPr/>
          <p:nvPr/>
        </p:nvSpPr>
        <p:spPr>
          <a:xfrm>
            <a:off x="842870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2" name="Shape 22"/>
          <p:cNvSpPr/>
          <p:nvPr/>
        </p:nvSpPr>
        <p:spPr>
          <a:xfrm>
            <a:off x="578874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23" name="Shape 23"/>
          <p:cNvSpPr/>
          <p:nvPr/>
        </p:nvSpPr>
        <p:spPr>
          <a:xfrm>
            <a:off x="578874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Select driver ID and date</a:t>
            </a:r>
            <a:endParaRPr lang="en-US" sz="926"/>
          </a:p>
        </p:txBody>
      </p:sp>
      <p:cxnSp>
        <p:nvCxnSpPr>
          <p:cNvPr id="24" name="Connector 24"/>
          <p:cNvCxnSpPr/>
          <p:nvPr/>
        </p:nvCxnSpPr>
        <p:spPr>
          <a:xfrm flipH="0" flipV="0">
            <a:off x="2692318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5" name="Shape 25"/>
          <p:cNvSpPr/>
          <p:nvPr/>
        </p:nvSpPr>
        <p:spPr>
          <a:xfrm>
            <a:off x="3364844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6" name="Shape 26"/>
          <p:cNvSpPr/>
          <p:nvPr/>
        </p:nvSpPr>
        <p:spPr>
          <a:xfrm>
            <a:off x="3100848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and visit tasks</a:t>
            </a:r>
            <a:endParaRPr lang="en-US" sz="1191"/>
          </a:p>
        </p:txBody>
      </p:sp>
      <p:sp>
        <p:nvSpPr>
          <p:cNvPr id="27" name="Shape 27"/>
          <p:cNvSpPr/>
          <p:nvPr/>
        </p:nvSpPr>
        <p:spPr>
          <a:xfrm>
            <a:off x="3100848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Search, QR, task map, and GPS</a:t>
            </a:r>
            <a:endParaRPr lang="en-US" sz="926"/>
          </a:p>
        </p:txBody>
      </p:sp>
      <p:cxnSp>
        <p:nvCxnSpPr>
          <p:cNvPr id="28" name="Connector 28"/>
          <p:cNvCxnSpPr/>
          <p:nvPr/>
        </p:nvCxnSpPr>
        <p:spPr>
          <a:xfrm flipH="0" flipV="0">
            <a:off x="5214292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9" name="Shape 29"/>
          <p:cNvSpPr/>
          <p:nvPr/>
        </p:nvSpPr>
        <p:spPr>
          <a:xfrm>
            <a:off x="5886818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0" name="Shape 30"/>
          <p:cNvSpPr/>
          <p:nvPr/>
        </p:nvSpPr>
        <p:spPr>
          <a:xfrm>
            <a:off x="5622822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and save work</a:t>
            </a:r>
            <a:endParaRPr lang="en-US" sz="1191"/>
          </a:p>
        </p:txBody>
      </p:sp>
      <p:sp>
        <p:nvSpPr>
          <p:cNvPr id="31" name="Shape 31"/>
          <p:cNvSpPr/>
          <p:nvPr/>
        </p:nvSpPr>
        <p:spPr>
          <a:xfrm>
            <a:off x="5622822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Outcome and photos on device</a:t>
            </a:r>
            <a:endParaRPr lang="en-US" sz="926"/>
          </a:p>
        </p:txBody>
      </p:sp>
      <p:cxnSp>
        <p:nvCxnSpPr>
          <p:cNvPr id="32" name="Connector 32"/>
          <p:cNvCxnSpPr/>
          <p:nvPr/>
        </p:nvCxnSpPr>
        <p:spPr>
          <a:xfrm flipH="0" flipV="0">
            <a:off x="7736266" y="4568165"/>
            <a:ext cx="67252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3" name="Shape 33"/>
          <p:cNvSpPr/>
          <p:nvPr/>
        </p:nvSpPr>
        <p:spPr>
          <a:xfrm>
            <a:off x="8408792" y="4215089"/>
            <a:ext cx="1849447" cy="71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34" name="Shape 34"/>
          <p:cNvSpPr/>
          <p:nvPr/>
        </p:nvSpPr>
        <p:spPr>
          <a:xfrm>
            <a:off x="8144796" y="431036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work</a:t>
            </a:r>
            <a:endParaRPr lang="en-US" sz="1191"/>
          </a:p>
        </p:txBody>
      </p:sp>
      <p:sp>
        <p:nvSpPr>
          <p:cNvPr id="35" name="Shape 35"/>
          <p:cNvSpPr/>
          <p:nvPr/>
        </p:nvSpPr>
        <p:spPr>
          <a:xfrm>
            <a:off x="8144796" y="452893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results and photos</a:t>
            </a:r>
            <a:endParaRPr lang="en-US" sz="926"/>
          </a:p>
        </p:txBody>
      </p:sp>
      <p:cxnSp>
        <p:nvCxnSpPr>
          <p:cNvPr id="36" name="Connector 36"/>
          <p:cNvCxnSpPr/>
          <p:nvPr/>
        </p:nvCxnSpPr>
        <p:spPr>
          <a:xfrm flipH="0" flipV="0">
            <a:off x="4289568" y="2996134"/>
            <a:ext cx="0" cy="33626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7" name="Connector 37"/>
          <p:cNvCxnSpPr/>
          <p:nvPr/>
        </p:nvCxnSpPr>
        <p:spPr>
          <a:xfrm flipH="1" flipV="0">
            <a:off x="1767594" y="3332398"/>
            <a:ext cx="252197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38" name="Connector 38"/>
          <p:cNvCxnSpPr/>
          <p:nvPr/>
        </p:nvCxnSpPr>
        <p:spPr>
          <a:xfrm flipH="0" flipV="0">
            <a:off x="1767594" y="3332398"/>
            <a:ext cx="0" cy="88269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9" name="Shape 39"/>
          <p:cNvSpPr/>
          <p:nvPr/>
        </p:nvSpPr>
        <p:spPr>
          <a:xfrm>
            <a:off x="1461565" y="30661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Assigned tasks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 flipH="0" flipV="1">
            <a:off x="4289568" y="3668661"/>
            <a:ext cx="0" cy="546427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1" name="Connector 41"/>
          <p:cNvCxnSpPr/>
          <p:nvPr/>
        </p:nvCxnSpPr>
        <p:spPr>
          <a:xfrm flipH="0" flipV="0">
            <a:off x="4289568" y="3668661"/>
            <a:ext cx="2521974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42" name="Connector 42"/>
          <p:cNvCxnSpPr/>
          <p:nvPr/>
        </p:nvCxnSpPr>
        <p:spPr>
          <a:xfrm flipH="0" flipV="1">
            <a:off x="6811542" y="2996134"/>
            <a:ext cx="0" cy="672526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43" name="Shape 43"/>
          <p:cNvSpPr/>
          <p:nvPr/>
        </p:nvSpPr>
        <p:spPr>
          <a:xfrm>
            <a:off x="3813195" y="3385639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activity updates when available</a:t>
            </a:r>
            <a:endParaRPr lang="en-US" sz="926"/>
          </a:p>
        </p:txBody>
      </p:sp>
      <p:cxnSp>
        <p:nvCxnSpPr>
          <p:cNvPr id="44" name="Connector 44"/>
          <p:cNvCxnSpPr/>
          <p:nvPr/>
        </p:nvCxnSpPr>
        <p:spPr>
          <a:xfrm flipH="0" flipV="0">
            <a:off x="10258240" y="4568165"/>
            <a:ext cx="210164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5" name="Connector 45"/>
          <p:cNvCxnSpPr/>
          <p:nvPr/>
        </p:nvCxnSpPr>
        <p:spPr>
          <a:xfrm flipH="0" flipV="1">
            <a:off x="10468405" y="2634651"/>
            <a:ext cx="0" cy="193351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6" name="Connector 46"/>
          <p:cNvCxnSpPr/>
          <p:nvPr/>
        </p:nvCxnSpPr>
        <p:spPr>
          <a:xfrm flipH="1" flipV="0">
            <a:off x="10258240" y="2634651"/>
            <a:ext cx="21016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8144796" y="370508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Successful upload → admin review</a:t>
            </a:r>
            <a:endParaRPr lang="en-US" sz="926"/>
          </a:p>
        </p:txBody>
      </p:sp>
      <p:sp>
        <p:nvSpPr>
          <p:cNvPr id="48" name="Shape 48"/>
          <p:cNvSpPr/>
          <p:nvPr/>
        </p:nvSpPr>
        <p:spPr>
          <a:xfrm>
            <a:off x="4121436" y="5476076"/>
            <a:ext cx="4497520" cy="605273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49" name="Shape 49"/>
          <p:cNvSpPr/>
          <p:nvPr/>
        </p:nvSpPr>
        <p:spPr>
          <a:xfrm>
            <a:off x="4628633" y="553772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Offline or upload failed: keep work on device</a:t>
            </a:r>
            <a:endParaRPr lang="en-US" sz="1191"/>
          </a:p>
        </p:txBody>
      </p:sp>
      <p:sp>
        <p:nvSpPr>
          <p:cNvPr id="50" name="Shape 50"/>
          <p:cNvSpPr/>
          <p:nvPr/>
        </p:nvSpPr>
        <p:spPr>
          <a:xfrm>
            <a:off x="4628633" y="576470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until successfully transferred</a:t>
            </a:r>
            <a:endParaRPr lang="en-US" sz="926"/>
          </a:p>
        </p:txBody>
      </p:sp>
      <p:cxnSp>
        <p:nvCxnSpPr>
          <p:cNvPr id="51" name="Connector 51"/>
          <p:cNvCxnSpPr/>
          <p:nvPr/>
        </p:nvCxnSpPr>
        <p:spPr>
          <a:xfrm flipH="0" flipV="0">
            <a:off x="9333516" y="4929648"/>
            <a:ext cx="0" cy="849064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2" name="Connector 52"/>
          <p:cNvCxnSpPr/>
          <p:nvPr/>
        </p:nvCxnSpPr>
        <p:spPr>
          <a:xfrm flipH="1" flipV="0">
            <a:off x="8618957" y="5778713"/>
            <a:ext cx="714559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3" name="Connector 53"/>
          <p:cNvCxnSpPr/>
          <p:nvPr/>
        </p:nvCxnSpPr>
        <p:spPr>
          <a:xfrm flipH="0" flipV="0">
            <a:off x="8618957" y="5963657"/>
            <a:ext cx="172334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4" name="Connector 54"/>
          <p:cNvCxnSpPr/>
          <p:nvPr/>
        </p:nvCxnSpPr>
        <p:spPr>
          <a:xfrm flipH="0" flipV="1">
            <a:off x="10342306" y="5139812"/>
            <a:ext cx="0" cy="823844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5" name="Connector 55"/>
          <p:cNvCxnSpPr/>
          <p:nvPr/>
        </p:nvCxnSpPr>
        <p:spPr>
          <a:xfrm flipH="1" flipV="0">
            <a:off x="9333516" y="5139812"/>
            <a:ext cx="1008789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56" name="Connector 56"/>
          <p:cNvCxnSpPr/>
          <p:nvPr/>
        </p:nvCxnSpPr>
        <p:spPr>
          <a:xfrm flipH="0" flipV="1">
            <a:off x="9333516" y="4929648"/>
            <a:ext cx="0" cy="210164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57" name="Shape 57"/>
          <p:cNvSpPr/>
          <p:nvPr/>
        </p:nvSpPr>
        <p:spPr>
          <a:xfrm>
            <a:off x="660727" y="559657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Shared records connect both roles.</a:t>
            </a:r>
            <a:endParaRPr lang="en-US" sz="926"/>
          </a:p>
        </p:txBody>
      </p:sp>
      <p:sp>
        <p:nvSpPr>
          <p:cNvPr id="58" name="Shape 58"/>
          <p:cNvSpPr/>
          <p:nvPr/>
        </p:nvSpPr>
        <p:spPr>
          <a:xfrm>
            <a:off x="660727" y="580673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70000" rIns="70000" tIns="50000" bIns="50000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Admin follow-up guides the next workload.</a:t>
            </a:r>
            <a:endParaRPr lang="en-US" sz="926"/>
          </a:p>
        </p:txBody>
      </p:sp>
      <p:sp>
        <p:nvSpPr>
          <p:cNvPr id="4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5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8 / 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TASK VIEWER · HOW TO USE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Find and review completed task records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Use Task Viewer to check customer details, recorded outcomes, completion times, and photo evidence within your assigned BA access.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Open Task Viewer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login-taskview.html, enter your registered email and password, and click Login. Your account must be active and authorized for Task Viewer.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Select From and To dates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Choose the date range for the assigned tasks you want to review. Wait for the loading indicator while records are retrieved.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 &amp; filter by BA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Type a customer name, meter number, account number, or driver ID in Search. Select BA filters to narrow the available results.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Open the task header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Click a customer task header to expand the record. Review the driver, completion time, customer details, and configured result fields.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Click Load Photos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the uploaded photos for the expanded task. If none are available, the button shows No photos. Click the header again to collapse details.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800" b="0">
                <a:solidFill>
                  <a:srgbClr val="17283E"/>
                </a:solidFill>
                <a:latin typeface="Arial"/>
              </a:rPr>
              <a:t/>
            </a:r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Browse pages &amp; log out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 and Next to review additional results. If no tasks appear, check dates, search, and BA filters. Click Logout when finished.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Login → Select dates → Search / Filter → Open task → Load photos → Logout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rIns="70000" tIns="50000" bIns="50000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9 / 9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