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62" r:id="rId3"/>
    <p:sldId id="256" r:id="rId4"/>
    <p:sldId id="257" r:id="rId5"/>
    <p:sldId id="258" r:id="rId6"/>
    <p:sldId id="259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COMPLETE SYSTEM FLOWCHART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the system works from start to finish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816908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295028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784"/>
          </a:p>
        </p:txBody>
      </p:sp>
      <p:sp>
        <p:nvSpPr>
          <p:cNvPr id="6" name="Shape 6"/>
          <p:cNvSpPr/>
          <p:nvPr/>
        </p:nvSpPr>
        <p:spPr>
          <a:xfrm>
            <a:off x="295028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Import task CSV</a:t>
            </a:r>
            <a:endParaRPr lang="en-US" sz="1086"/>
          </a:p>
        </p:txBody>
      </p:sp>
      <p:sp>
        <p:nvSpPr>
          <p:cNvPr id="7" name="Shape 7"/>
          <p:cNvSpPr/>
          <p:nvPr/>
        </p:nvSpPr>
        <p:spPr>
          <a:xfrm>
            <a:off x="2541494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019613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784"/>
          </a:p>
        </p:txBody>
      </p:sp>
      <p:sp>
        <p:nvSpPr>
          <p:cNvPr id="9" name="Shape 9"/>
          <p:cNvSpPr/>
          <p:nvPr/>
        </p:nvSpPr>
        <p:spPr>
          <a:xfrm>
            <a:off x="2019613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Assign driver</a:t>
            </a:r>
            <a:endParaRPr lang="en-US" sz="1086"/>
          </a:p>
        </p:txBody>
      </p:sp>
      <p:sp>
        <p:nvSpPr>
          <p:cNvPr id="10" name="Shape 10"/>
          <p:cNvSpPr/>
          <p:nvPr/>
        </p:nvSpPr>
        <p:spPr>
          <a:xfrm>
            <a:off x="4266079" y="1993526"/>
            <a:ext cx="134134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3744199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DRIVER</a:t>
            </a:r>
            <a:endParaRPr lang="en-US" sz="784"/>
          </a:p>
        </p:txBody>
      </p:sp>
      <p:sp>
        <p:nvSpPr>
          <p:cNvPr id="12" name="Shape 12"/>
          <p:cNvSpPr/>
          <p:nvPr/>
        </p:nvSpPr>
        <p:spPr>
          <a:xfrm>
            <a:off x="3744199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Download tasks</a:t>
            </a:r>
            <a:endParaRPr lang="en-US" sz="1086"/>
          </a:p>
        </p:txBody>
      </p:sp>
      <p:sp>
        <p:nvSpPr>
          <p:cNvPr id="13" name="Shape 13"/>
          <p:cNvSpPr/>
          <p:nvPr/>
        </p:nvSpPr>
        <p:spPr>
          <a:xfrm>
            <a:off x="5990664" y="1993526"/>
            <a:ext cx="1532964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5568427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DRIVER · FIELD WORK</a:t>
            </a:r>
            <a:endParaRPr lang="en-US" sz="784"/>
          </a:p>
        </p:txBody>
      </p:sp>
      <p:sp>
        <p:nvSpPr>
          <p:cNvPr id="15" name="Shape 15"/>
          <p:cNvSpPr/>
          <p:nvPr/>
        </p:nvSpPr>
        <p:spPr>
          <a:xfrm>
            <a:off x="5568427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Outcome + photos</a:t>
            </a:r>
            <a:endParaRPr lang="en-US" sz="1086"/>
          </a:p>
        </p:txBody>
      </p:sp>
      <p:sp>
        <p:nvSpPr>
          <p:cNvPr id="16" name="Shape 16"/>
          <p:cNvSpPr/>
          <p:nvPr/>
        </p:nvSpPr>
        <p:spPr>
          <a:xfrm>
            <a:off x="7906870" y="1993526"/>
            <a:ext cx="1571288" cy="57486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7" name="Shape 17"/>
          <p:cNvSpPr/>
          <p:nvPr/>
        </p:nvSpPr>
        <p:spPr>
          <a:xfrm>
            <a:off x="7499962" y="20267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DEVICE STORAGE</a:t>
            </a:r>
            <a:endParaRPr lang="en-US" sz="784"/>
          </a:p>
        </p:txBody>
      </p:sp>
      <p:sp>
        <p:nvSpPr>
          <p:cNvPr id="18" name="Shape 18"/>
          <p:cNvSpPr/>
          <p:nvPr/>
        </p:nvSpPr>
        <p:spPr>
          <a:xfrm>
            <a:off x="7499962" y="22183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Save locally</a:t>
            </a:r>
            <a:endParaRPr lang="en-US" sz="1086"/>
          </a:p>
        </p:txBody>
      </p:sp>
      <p:cxnSp>
        <p:nvCxnSpPr>
          <p:cNvPr id="19" name="Connector 19"/>
          <p:cNvCxnSpPr/>
          <p:nvPr/>
        </p:nvCxnSpPr>
        <p:spPr>
          <a:xfrm>
            <a:off x="2158252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0" name="Connector 20"/>
          <p:cNvCxnSpPr/>
          <p:nvPr/>
        </p:nvCxnSpPr>
        <p:spPr>
          <a:xfrm>
            <a:off x="3882838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1" name="Connector 21"/>
          <p:cNvCxnSpPr/>
          <p:nvPr/>
        </p:nvCxnSpPr>
        <p:spPr>
          <a:xfrm>
            <a:off x="5607423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2" name="Connector 22"/>
          <p:cNvCxnSpPr/>
          <p:nvPr/>
        </p:nvCxnSpPr>
        <p:spPr>
          <a:xfrm>
            <a:off x="7523629" y="2284789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23" name="Connector 23"/>
          <p:cNvCxnSpPr/>
          <p:nvPr/>
        </p:nvCxnSpPr>
        <p:spPr>
          <a:xfrm>
            <a:off x="8688682" y="2568388"/>
            <a:ext cx="0" cy="32192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7975854" y="2890310"/>
            <a:ext cx="1425657" cy="735823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5" name="Shape 25"/>
          <p:cNvSpPr/>
          <p:nvPr/>
        </p:nvSpPr>
        <p:spPr>
          <a:xfrm>
            <a:off x="7499962" y="303849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Internet</a:t>
            </a:r>
            <a:endParaRPr lang="en-US" sz="1086"/>
          </a:p>
        </p:txBody>
      </p:sp>
      <p:sp>
        <p:nvSpPr>
          <p:cNvPr id="26" name="Shape 26"/>
          <p:cNvSpPr/>
          <p:nvPr/>
        </p:nvSpPr>
        <p:spPr>
          <a:xfrm>
            <a:off x="7499962" y="319945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available?</a:t>
            </a:r>
            <a:endParaRPr lang="en-US" sz="1086"/>
          </a:p>
        </p:txBody>
      </p:sp>
      <p:sp>
        <p:nvSpPr>
          <p:cNvPr id="27" name="Shape 27"/>
          <p:cNvSpPr/>
          <p:nvPr/>
        </p:nvSpPr>
        <p:spPr>
          <a:xfrm>
            <a:off x="5990664" y="2966959"/>
            <a:ext cx="1532964" cy="58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8" name="Shape 28"/>
          <p:cNvSpPr/>
          <p:nvPr/>
        </p:nvSpPr>
        <p:spPr>
          <a:xfrm>
            <a:off x="5568427" y="301550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Upload details</a:t>
            </a:r>
            <a:endParaRPr lang="en-US" sz="1086"/>
          </a:p>
        </p:txBody>
      </p:sp>
      <p:sp>
        <p:nvSpPr>
          <p:cNvPr id="29" name="Shape 29"/>
          <p:cNvSpPr/>
          <p:nvPr/>
        </p:nvSpPr>
        <p:spPr>
          <a:xfrm>
            <a:off x="5568427" y="319179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and photos</a:t>
            </a:r>
            <a:endParaRPr lang="en-US" sz="1086"/>
          </a:p>
        </p:txBody>
      </p:sp>
      <p:cxnSp>
        <p:nvCxnSpPr>
          <p:cNvPr id="30" name="Connector 30"/>
          <p:cNvCxnSpPr/>
          <p:nvPr/>
        </p:nvCxnSpPr>
        <p:spPr>
          <a:xfrm flipH="1">
            <a:off x="7523629" y="3258222"/>
            <a:ext cx="45222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1" name="Shape 31"/>
          <p:cNvSpPr/>
          <p:nvPr/>
        </p:nvSpPr>
        <p:spPr>
          <a:xfrm>
            <a:off x="6564854" y="296951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Yes</a:t>
            </a:r>
            <a:endParaRPr lang="en-US" sz="844"/>
          </a:p>
        </p:txBody>
      </p:sp>
      <p:sp>
        <p:nvSpPr>
          <p:cNvPr id="32" name="Shape 32"/>
          <p:cNvSpPr/>
          <p:nvPr/>
        </p:nvSpPr>
        <p:spPr>
          <a:xfrm>
            <a:off x="7906870" y="3932726"/>
            <a:ext cx="1571288" cy="628515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33" name="Shape 33"/>
          <p:cNvSpPr/>
          <p:nvPr/>
        </p:nvSpPr>
        <p:spPr>
          <a:xfrm>
            <a:off x="7499962" y="396594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Keep work on device</a:t>
            </a:r>
            <a:endParaRPr lang="en-US" sz="1086"/>
          </a:p>
        </p:txBody>
      </p:sp>
      <p:sp>
        <p:nvSpPr>
          <p:cNvPr id="34" name="Shape 34"/>
          <p:cNvSpPr/>
          <p:nvPr/>
        </p:nvSpPr>
        <p:spPr>
          <a:xfrm>
            <a:off x="7499962" y="415756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Reconnect / retry</a:t>
            </a:r>
            <a:endParaRPr lang="en-US" sz="844"/>
          </a:p>
        </p:txBody>
      </p:sp>
      <p:cxnSp>
        <p:nvCxnSpPr>
          <p:cNvPr id="35" name="Connector 35"/>
          <p:cNvCxnSpPr/>
          <p:nvPr/>
        </p:nvCxnSpPr>
        <p:spPr>
          <a:xfrm>
            <a:off x="8688682" y="3626133"/>
            <a:ext cx="0" cy="306592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6" name="Shape 36"/>
          <p:cNvSpPr/>
          <p:nvPr/>
        </p:nvSpPr>
        <p:spPr>
          <a:xfrm>
            <a:off x="7668588" y="364401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No</a:t>
            </a:r>
            <a:endParaRPr lang="en-US" sz="844"/>
          </a:p>
        </p:txBody>
      </p:sp>
      <p:cxnSp>
        <p:nvCxnSpPr>
          <p:cNvPr id="37" name="Connector 37"/>
          <p:cNvCxnSpPr/>
          <p:nvPr/>
        </p:nvCxnSpPr>
        <p:spPr>
          <a:xfrm>
            <a:off x="9478159" y="4246984"/>
            <a:ext cx="137966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38" name="Connector 38"/>
          <p:cNvCxnSpPr/>
          <p:nvPr/>
        </p:nvCxnSpPr>
        <p:spPr>
          <a:xfrm flipV="1">
            <a:off x="9616126" y="3258222"/>
            <a:ext cx="0" cy="988762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39" name="Connector 39"/>
          <p:cNvCxnSpPr/>
          <p:nvPr/>
        </p:nvCxnSpPr>
        <p:spPr>
          <a:xfrm flipH="1">
            <a:off x="9401511" y="3258222"/>
            <a:ext cx="214615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cxnSp>
        <p:nvCxnSpPr>
          <p:cNvPr id="40" name="Connector 40"/>
          <p:cNvCxnSpPr/>
          <p:nvPr/>
        </p:nvCxnSpPr>
        <p:spPr>
          <a:xfrm>
            <a:off x="6757147" y="3549485"/>
            <a:ext cx="0" cy="697498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1" name="Connector 41"/>
          <p:cNvCxnSpPr/>
          <p:nvPr/>
        </p:nvCxnSpPr>
        <p:spPr>
          <a:xfrm>
            <a:off x="6757147" y="4246984"/>
            <a:ext cx="114972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2" name="Shape 42"/>
          <p:cNvSpPr/>
          <p:nvPr/>
        </p:nvSpPr>
        <p:spPr>
          <a:xfrm>
            <a:off x="6028316" y="398127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Upload fails</a:t>
            </a:r>
            <a:endParaRPr lang="en-US" sz="844"/>
          </a:p>
        </p:txBody>
      </p:sp>
      <p:sp>
        <p:nvSpPr>
          <p:cNvPr id="43" name="Shape 43"/>
          <p:cNvSpPr/>
          <p:nvPr/>
        </p:nvSpPr>
        <p:spPr>
          <a:xfrm>
            <a:off x="3921162" y="2966959"/>
            <a:ext cx="1686261" cy="58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44" name="Shape 44"/>
          <p:cNvSpPr/>
          <p:nvPr/>
        </p:nvSpPr>
        <p:spPr>
          <a:xfrm>
            <a:off x="3575572" y="299250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Shared task records</a:t>
            </a:r>
            <a:endParaRPr lang="en-US" sz="1086"/>
          </a:p>
        </p:txBody>
      </p:sp>
      <p:sp>
        <p:nvSpPr>
          <p:cNvPr id="45" name="Shape 45"/>
          <p:cNvSpPr/>
          <p:nvPr/>
        </p:nvSpPr>
        <p:spPr>
          <a:xfrm>
            <a:off x="3575572" y="318412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Successful upload: COMPLETED</a:t>
            </a:r>
            <a:endParaRPr lang="en-US" sz="844"/>
          </a:p>
        </p:txBody>
      </p:sp>
      <p:cxnSp>
        <p:nvCxnSpPr>
          <p:cNvPr id="46" name="Connector 46"/>
          <p:cNvCxnSpPr/>
          <p:nvPr/>
        </p:nvCxnSpPr>
        <p:spPr>
          <a:xfrm flipH="1">
            <a:off x="5607423" y="3258222"/>
            <a:ext cx="383241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7" name="Shape 47"/>
          <p:cNvSpPr/>
          <p:nvPr/>
        </p:nvSpPr>
        <p:spPr>
          <a:xfrm>
            <a:off x="4610324" y="294651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Success</a:t>
            </a:r>
            <a:endParaRPr lang="en-US" sz="844"/>
          </a:p>
        </p:txBody>
      </p:sp>
      <p:cxnSp>
        <p:nvCxnSpPr>
          <p:cNvPr id="48" name="Connector 48"/>
          <p:cNvCxnSpPr/>
          <p:nvPr/>
        </p:nvCxnSpPr>
        <p:spPr>
          <a:xfrm>
            <a:off x="3208333" y="2568388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49" name="Connector 49"/>
          <p:cNvCxnSpPr/>
          <p:nvPr/>
        </p:nvCxnSpPr>
        <p:spPr>
          <a:xfrm>
            <a:off x="3208333" y="2775338"/>
            <a:ext cx="1555959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0" name="Connector 50"/>
          <p:cNvCxnSpPr/>
          <p:nvPr/>
        </p:nvCxnSpPr>
        <p:spPr>
          <a:xfrm>
            <a:off x="4764292" y="2775338"/>
            <a:ext cx="0" cy="19162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1" name="Shape 51"/>
          <p:cNvSpPr/>
          <p:nvPr/>
        </p:nvSpPr>
        <p:spPr>
          <a:xfrm>
            <a:off x="2349201" y="253261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Assigned records</a:t>
            </a:r>
            <a:endParaRPr lang="en-US" sz="844"/>
          </a:p>
        </p:txBody>
      </p:sp>
      <p:sp>
        <p:nvSpPr>
          <p:cNvPr id="52" name="Shape 52"/>
          <p:cNvSpPr/>
          <p:nvPr/>
        </p:nvSpPr>
        <p:spPr>
          <a:xfrm>
            <a:off x="816908" y="2966959"/>
            <a:ext cx="2184474" cy="58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53" name="Shape 53"/>
          <p:cNvSpPr/>
          <p:nvPr/>
        </p:nvSpPr>
        <p:spPr>
          <a:xfrm>
            <a:off x="716593" y="30078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Driver GPS + activity updates</a:t>
            </a:r>
            <a:endParaRPr lang="en-US" sz="1086"/>
          </a:p>
        </p:txBody>
      </p:sp>
      <p:sp>
        <p:nvSpPr>
          <p:cNvPr id="54" name="Shape 54"/>
          <p:cNvSpPr/>
          <p:nvPr/>
        </p:nvSpPr>
        <p:spPr>
          <a:xfrm>
            <a:off x="167953" y="3191793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When location and connectivity allow</a:t>
            </a:r>
            <a:endParaRPr lang="en-US" sz="844"/>
          </a:p>
        </p:txBody>
      </p:sp>
      <p:cxnSp>
        <p:nvCxnSpPr>
          <p:cNvPr id="55" name="Connector 55"/>
          <p:cNvCxnSpPr/>
          <p:nvPr/>
        </p:nvCxnSpPr>
        <p:spPr>
          <a:xfrm>
            <a:off x="1905313" y="3549485"/>
            <a:ext cx="0" cy="1394997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6" name="Connector 56"/>
          <p:cNvCxnSpPr/>
          <p:nvPr/>
        </p:nvCxnSpPr>
        <p:spPr>
          <a:xfrm>
            <a:off x="4764292" y="3549485"/>
            <a:ext cx="0" cy="1149723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7" name="Connector 57"/>
          <p:cNvCxnSpPr/>
          <p:nvPr/>
        </p:nvCxnSpPr>
        <p:spPr>
          <a:xfrm flipH="1">
            <a:off x="3859843" y="4699209"/>
            <a:ext cx="904449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8" name="Connector 58"/>
          <p:cNvCxnSpPr/>
          <p:nvPr/>
        </p:nvCxnSpPr>
        <p:spPr>
          <a:xfrm>
            <a:off x="3859843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59" name="Connector 59"/>
          <p:cNvCxnSpPr/>
          <p:nvPr/>
        </p:nvCxnSpPr>
        <p:spPr>
          <a:xfrm>
            <a:off x="4764292" y="4699209"/>
            <a:ext cx="1165053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60" name="Connector 60"/>
          <p:cNvCxnSpPr/>
          <p:nvPr/>
        </p:nvCxnSpPr>
        <p:spPr>
          <a:xfrm>
            <a:off x="5929346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61" name="Connector 61"/>
          <p:cNvCxnSpPr/>
          <p:nvPr/>
        </p:nvCxnSpPr>
        <p:spPr>
          <a:xfrm>
            <a:off x="5929346" y="4699209"/>
            <a:ext cx="2452743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62" name="Connector 62"/>
          <p:cNvCxnSpPr/>
          <p:nvPr/>
        </p:nvCxnSpPr>
        <p:spPr>
          <a:xfrm>
            <a:off x="8382089" y="4699209"/>
            <a:ext cx="0" cy="24527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63" name="Shape 63"/>
          <p:cNvSpPr/>
          <p:nvPr/>
        </p:nvSpPr>
        <p:spPr>
          <a:xfrm>
            <a:off x="3652221" y="437217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784" b="1">
                <a:solidFill>
                  <a:srgbClr val="007E80"/>
                </a:solidFill>
                <a:latin typeface="Arial"/>
              </a:rPr>
              <a:t>ADMIN MONITORING &amp; REVIEW</a:t>
            </a:r>
            <a:endParaRPr lang="en-US" sz="784"/>
          </a:p>
        </p:txBody>
      </p:sp>
      <p:sp>
        <p:nvSpPr>
          <p:cNvPr id="64" name="Shape 64"/>
          <p:cNvSpPr/>
          <p:nvPr/>
        </p:nvSpPr>
        <p:spPr>
          <a:xfrm>
            <a:off x="816908" y="4944483"/>
            <a:ext cx="2184474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5" name="Shape 65"/>
          <p:cNvSpPr/>
          <p:nvPr/>
        </p:nvSpPr>
        <p:spPr>
          <a:xfrm>
            <a:off x="716593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Live driver map</a:t>
            </a:r>
            <a:endParaRPr lang="en-US" sz="1086"/>
          </a:p>
        </p:txBody>
      </p:sp>
      <p:sp>
        <p:nvSpPr>
          <p:cNvPr id="66" name="Shape 66"/>
          <p:cNvSpPr/>
          <p:nvPr/>
        </p:nvSpPr>
        <p:spPr>
          <a:xfrm>
            <a:off x="167953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Location · Active / Idle / Offline</a:t>
            </a:r>
            <a:endParaRPr lang="en-US" sz="844"/>
          </a:p>
        </p:txBody>
      </p:sp>
      <p:sp>
        <p:nvSpPr>
          <p:cNvPr id="67" name="Shape 67"/>
          <p:cNvSpPr/>
          <p:nvPr/>
        </p:nvSpPr>
        <p:spPr>
          <a:xfrm>
            <a:off x="3193004" y="4944483"/>
            <a:ext cx="1762909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8" name="Shape 68"/>
          <p:cNvSpPr/>
          <p:nvPr/>
        </p:nvSpPr>
        <p:spPr>
          <a:xfrm>
            <a:off x="2885738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Task summary + graphs</a:t>
            </a:r>
            <a:endParaRPr lang="en-US" sz="1086"/>
          </a:p>
        </p:txBody>
      </p:sp>
      <p:sp>
        <p:nvSpPr>
          <p:cNvPr id="69" name="Shape 69"/>
          <p:cNvSpPr/>
          <p:nvPr/>
        </p:nvSpPr>
        <p:spPr>
          <a:xfrm>
            <a:off x="2885738" y="519231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Workload · Completions by hour</a:t>
            </a:r>
            <a:endParaRPr lang="en-US" sz="844"/>
          </a:p>
        </p:txBody>
      </p:sp>
      <p:sp>
        <p:nvSpPr>
          <p:cNvPr id="70" name="Shape 70"/>
          <p:cNvSpPr/>
          <p:nvPr/>
        </p:nvSpPr>
        <p:spPr>
          <a:xfrm>
            <a:off x="5147534" y="4944483"/>
            <a:ext cx="1762909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71" name="Shape 71"/>
          <p:cNvSpPr/>
          <p:nvPr/>
        </p:nvSpPr>
        <p:spPr>
          <a:xfrm>
            <a:off x="4840268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7-day completion heatmap</a:t>
            </a:r>
            <a:endParaRPr lang="en-US" sz="1086"/>
          </a:p>
        </p:txBody>
      </p:sp>
      <p:sp>
        <p:nvSpPr>
          <p:cNvPr id="72" name="Shape 72"/>
          <p:cNvSpPr/>
          <p:nvPr/>
        </p:nvSpPr>
        <p:spPr>
          <a:xfrm>
            <a:off x="4291628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Completed / total by created date</a:t>
            </a:r>
            <a:endParaRPr lang="en-US" sz="844"/>
          </a:p>
        </p:txBody>
      </p:sp>
      <p:sp>
        <p:nvSpPr>
          <p:cNvPr id="73" name="Shape 73"/>
          <p:cNvSpPr/>
          <p:nvPr/>
        </p:nvSpPr>
        <p:spPr>
          <a:xfrm>
            <a:off x="7102064" y="4944483"/>
            <a:ext cx="2376095" cy="65151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74" name="Shape 74"/>
          <p:cNvSpPr/>
          <p:nvPr/>
        </p:nvSpPr>
        <p:spPr>
          <a:xfrm>
            <a:off x="7101391" y="499302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Review evidence + export reports</a:t>
            </a:r>
            <a:endParaRPr lang="en-US" sz="1086"/>
          </a:p>
        </p:txBody>
      </p:sp>
      <p:sp>
        <p:nvSpPr>
          <p:cNvPr id="75" name="Shape 75"/>
          <p:cNvSpPr/>
          <p:nvPr/>
        </p:nvSpPr>
        <p:spPr>
          <a:xfrm>
            <a:off x="6552751" y="5192312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44" b="0">
                <a:solidFill>
                  <a:srgbClr val="17283E"/>
                </a:solidFill>
                <a:latin typeface="Arial"/>
              </a:rPr>
              <a:t>Task details · Photos · Report filters</a:t>
            </a:r>
            <a:endParaRPr lang="en-US" sz="844"/>
          </a:p>
        </p:txBody>
      </p:sp>
      <p:cxnSp>
        <p:nvCxnSpPr>
          <p:cNvPr id="76" name="Connector 76"/>
          <p:cNvCxnSpPr/>
          <p:nvPr/>
        </p:nvCxnSpPr>
        <p:spPr>
          <a:xfrm>
            <a:off x="1905313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77" name="Connector 77"/>
          <p:cNvCxnSpPr/>
          <p:nvPr/>
        </p:nvCxnSpPr>
        <p:spPr>
          <a:xfrm>
            <a:off x="1905313" y="5802943"/>
            <a:ext cx="324222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78" name="Connector 78"/>
          <p:cNvCxnSpPr/>
          <p:nvPr/>
        </p:nvCxnSpPr>
        <p:spPr>
          <a:xfrm>
            <a:off x="5147534" y="5802943"/>
            <a:ext cx="0" cy="199285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79" name="Connector 79"/>
          <p:cNvCxnSpPr/>
          <p:nvPr/>
        </p:nvCxnSpPr>
        <p:spPr>
          <a:xfrm>
            <a:off x="4074458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80" name="Connector 80"/>
          <p:cNvCxnSpPr/>
          <p:nvPr/>
        </p:nvCxnSpPr>
        <p:spPr>
          <a:xfrm>
            <a:off x="6028988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81" name="Connector 81"/>
          <p:cNvCxnSpPr/>
          <p:nvPr/>
        </p:nvCxnSpPr>
        <p:spPr>
          <a:xfrm flipH="1">
            <a:off x="5147534" y="5802943"/>
            <a:ext cx="881454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82" name="Connector 82"/>
          <p:cNvCxnSpPr/>
          <p:nvPr/>
        </p:nvCxnSpPr>
        <p:spPr>
          <a:xfrm>
            <a:off x="8290111" y="5595993"/>
            <a:ext cx="0" cy="20695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83" name="Connector 83"/>
          <p:cNvCxnSpPr/>
          <p:nvPr/>
        </p:nvCxnSpPr>
        <p:spPr>
          <a:xfrm flipH="1">
            <a:off x="6028988" y="5802943"/>
            <a:ext cx="2261122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84" name="Shape 84"/>
          <p:cNvSpPr/>
          <p:nvPr/>
        </p:nvSpPr>
        <p:spPr>
          <a:xfrm>
            <a:off x="3410174" y="602777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086" b="0">
                <a:solidFill>
                  <a:srgbClr val="17283E"/>
                </a:solidFill>
                <a:latin typeface="Arial"/>
              </a:rPr>
              <a:t>Admin follow-up and workload decisions</a:t>
            </a:r>
            <a:endParaRPr lang="en-US" sz="1086"/>
          </a:p>
        </p:txBody>
      </p:sp>
      <p:sp>
        <p:nvSpPr>
          <p:cNvPr id="85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86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5 / 7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DRIVER APP WORKFLOW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From assignment download to completed upload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842870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5" name="Shape 5"/>
          <p:cNvSpPr/>
          <p:nvPr/>
        </p:nvSpPr>
        <p:spPr>
          <a:xfrm>
            <a:off x="637720" y="2124652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860" b="1">
                <a:solidFill>
                  <a:srgbClr val="007E80"/>
                </a:solidFill>
                <a:latin typeface="Arial"/>
              </a:rPr>
              <a:t>START</a:t>
            </a:r>
            <a:endParaRPr lang="en-US" sz="860"/>
          </a:p>
        </p:txBody>
      </p:sp>
      <p:sp>
        <p:nvSpPr>
          <p:cNvPr id="6" name="Shape 6"/>
          <p:cNvSpPr/>
          <p:nvPr/>
        </p:nvSpPr>
        <p:spPr>
          <a:xfrm>
            <a:off x="637720" y="234322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Validate driver ID</a:t>
            </a:r>
            <a:endParaRPr lang="en-US" sz="1191"/>
          </a:p>
        </p:txBody>
      </p:sp>
      <p:sp>
        <p:nvSpPr>
          <p:cNvPr id="7" name="Shape 7"/>
          <p:cNvSpPr/>
          <p:nvPr/>
        </p:nvSpPr>
        <p:spPr>
          <a:xfrm>
            <a:off x="3364844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3159694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Select date</a:t>
            </a:r>
            <a:endParaRPr lang="en-US" sz="1191"/>
          </a:p>
        </p:txBody>
      </p:sp>
      <p:sp>
        <p:nvSpPr>
          <p:cNvPr id="9" name="Shape 9"/>
          <p:cNvSpPr/>
          <p:nvPr/>
        </p:nvSpPr>
        <p:spPr>
          <a:xfrm>
            <a:off x="3159694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Download assignments</a:t>
            </a:r>
            <a:endParaRPr lang="en-US" sz="1191"/>
          </a:p>
        </p:txBody>
      </p:sp>
      <p:sp>
        <p:nvSpPr>
          <p:cNvPr id="10" name="Shape 10"/>
          <p:cNvSpPr/>
          <p:nvPr/>
        </p:nvSpPr>
        <p:spPr>
          <a:xfrm>
            <a:off x="5886818" y="2071410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1" name="Shape 11"/>
          <p:cNvSpPr/>
          <p:nvPr/>
        </p:nvSpPr>
        <p:spPr>
          <a:xfrm>
            <a:off x="5681668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Find a task</a:t>
            </a:r>
            <a:endParaRPr lang="en-US" sz="1191"/>
          </a:p>
        </p:txBody>
      </p:sp>
      <p:sp>
        <p:nvSpPr>
          <p:cNvPr id="12" name="Shape 12"/>
          <p:cNvSpPr/>
          <p:nvPr/>
        </p:nvSpPr>
        <p:spPr>
          <a:xfrm>
            <a:off x="5681668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Search / filter / scan meter QR</a:t>
            </a:r>
            <a:endParaRPr lang="en-US" sz="926"/>
          </a:p>
        </p:txBody>
      </p:sp>
      <p:sp>
        <p:nvSpPr>
          <p:cNvPr id="13" name="Shape 13"/>
          <p:cNvSpPr/>
          <p:nvPr/>
        </p:nvSpPr>
        <p:spPr>
          <a:xfrm>
            <a:off x="8408792" y="2071410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4" name="Shape 14"/>
          <p:cNvSpPr/>
          <p:nvPr/>
        </p:nvSpPr>
        <p:spPr>
          <a:xfrm>
            <a:off x="8186829" y="21666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View details / map</a:t>
            </a:r>
            <a:endParaRPr lang="en-US" sz="1191"/>
          </a:p>
        </p:txBody>
      </p:sp>
      <p:sp>
        <p:nvSpPr>
          <p:cNvPr id="15" name="Shape 15"/>
          <p:cNvSpPr/>
          <p:nvPr/>
        </p:nvSpPr>
        <p:spPr>
          <a:xfrm>
            <a:off x="8186829" y="2385256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Locate and visit the customer</a:t>
            </a:r>
            <a:endParaRPr lang="en-US" sz="926"/>
          </a:p>
        </p:txBody>
      </p:sp>
      <p:cxnSp>
        <p:nvCxnSpPr>
          <p:cNvPr id="16" name="Connector 16"/>
          <p:cNvCxnSpPr/>
          <p:nvPr/>
        </p:nvCxnSpPr>
        <p:spPr>
          <a:xfrm>
            <a:off x="2818416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5340390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8" name="Connector 18"/>
          <p:cNvCxnSpPr/>
          <p:nvPr/>
        </p:nvCxnSpPr>
        <p:spPr>
          <a:xfrm>
            <a:off x="7862365" y="2407674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19" name="Connector 19"/>
          <p:cNvCxnSpPr/>
          <p:nvPr/>
        </p:nvCxnSpPr>
        <p:spPr>
          <a:xfrm>
            <a:off x="9375549" y="2743937"/>
            <a:ext cx="0" cy="462361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20" name="Shape 20"/>
          <p:cNvSpPr/>
          <p:nvPr/>
        </p:nvSpPr>
        <p:spPr>
          <a:xfrm>
            <a:off x="8408792" y="3206299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86829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Perform field work</a:t>
            </a:r>
            <a:endParaRPr lang="en-US" sz="1191"/>
          </a:p>
        </p:txBody>
      </p:sp>
      <p:sp>
        <p:nvSpPr>
          <p:cNvPr id="22" name="Shape 22"/>
          <p:cNvSpPr/>
          <p:nvPr/>
        </p:nvSpPr>
        <p:spPr>
          <a:xfrm>
            <a:off x="8186829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Complete the assigned job</a:t>
            </a:r>
            <a:endParaRPr lang="en-US" sz="926"/>
          </a:p>
        </p:txBody>
      </p:sp>
      <p:sp>
        <p:nvSpPr>
          <p:cNvPr id="23" name="Shape 23"/>
          <p:cNvSpPr/>
          <p:nvPr/>
        </p:nvSpPr>
        <p:spPr>
          <a:xfrm>
            <a:off x="5886818" y="3206299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4" name="Shape 24"/>
          <p:cNvSpPr/>
          <p:nvPr/>
        </p:nvSpPr>
        <p:spPr>
          <a:xfrm>
            <a:off x="5681668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Record outcome</a:t>
            </a:r>
            <a:endParaRPr lang="en-US" sz="1191"/>
          </a:p>
        </p:txBody>
      </p:sp>
      <p:sp>
        <p:nvSpPr>
          <p:cNvPr id="25" name="Shape 25"/>
          <p:cNvSpPr/>
          <p:nvPr/>
        </p:nvSpPr>
        <p:spPr>
          <a:xfrm>
            <a:off x="5681668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Completion fields + photos</a:t>
            </a:r>
            <a:endParaRPr lang="en-US" sz="926"/>
          </a:p>
        </p:txBody>
      </p:sp>
      <p:sp>
        <p:nvSpPr>
          <p:cNvPr id="26" name="Shape 26"/>
          <p:cNvSpPr/>
          <p:nvPr/>
        </p:nvSpPr>
        <p:spPr>
          <a:xfrm>
            <a:off x="3364844" y="3206299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7" name="Shape 27"/>
          <p:cNvSpPr/>
          <p:nvPr/>
        </p:nvSpPr>
        <p:spPr>
          <a:xfrm>
            <a:off x="3159694" y="330157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Submit and save locally</a:t>
            </a:r>
            <a:endParaRPr lang="en-US" sz="1191"/>
          </a:p>
        </p:txBody>
      </p:sp>
      <p:sp>
        <p:nvSpPr>
          <p:cNvPr id="28" name="Shape 28"/>
          <p:cNvSpPr/>
          <p:nvPr/>
        </p:nvSpPr>
        <p:spPr>
          <a:xfrm>
            <a:off x="3159694" y="352014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LOCAL_COMPLETED</a:t>
            </a:r>
            <a:endParaRPr lang="en-US" sz="926"/>
          </a:p>
        </p:txBody>
      </p:sp>
      <p:cxnSp>
        <p:nvCxnSpPr>
          <p:cNvPr id="29" name="Connector 29"/>
          <p:cNvCxnSpPr/>
          <p:nvPr/>
        </p:nvCxnSpPr>
        <p:spPr>
          <a:xfrm flipH="1">
            <a:off x="7862365" y="3542562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0" name="Connector 30"/>
          <p:cNvCxnSpPr/>
          <p:nvPr/>
        </p:nvCxnSpPr>
        <p:spPr>
          <a:xfrm flipH="1">
            <a:off x="5340390" y="3542562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cxnSp>
        <p:nvCxnSpPr>
          <p:cNvPr id="31" name="Connector 31"/>
          <p:cNvCxnSpPr/>
          <p:nvPr/>
        </p:nvCxnSpPr>
        <p:spPr>
          <a:xfrm flipH="1">
            <a:off x="2709131" y="3542562"/>
            <a:ext cx="65571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2" name="Shape 32"/>
          <p:cNvSpPr/>
          <p:nvPr/>
        </p:nvSpPr>
        <p:spPr>
          <a:xfrm>
            <a:off x="943749" y="3038167"/>
            <a:ext cx="1765381" cy="1008789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33" name="Shape 33"/>
          <p:cNvSpPr/>
          <p:nvPr/>
        </p:nvSpPr>
        <p:spPr>
          <a:xfrm>
            <a:off x="637720" y="33183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Internet</a:t>
            </a:r>
            <a:endParaRPr lang="en-US" sz="1191"/>
          </a:p>
        </p:txBody>
      </p:sp>
      <p:sp>
        <p:nvSpPr>
          <p:cNvPr id="34" name="Shape 34"/>
          <p:cNvSpPr/>
          <p:nvPr/>
        </p:nvSpPr>
        <p:spPr>
          <a:xfrm>
            <a:off x="637720" y="35117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available?</a:t>
            </a:r>
            <a:endParaRPr lang="en-US" sz="1191"/>
          </a:p>
        </p:txBody>
      </p:sp>
      <p:cxnSp>
        <p:nvCxnSpPr>
          <p:cNvPr id="35" name="Connector 35"/>
          <p:cNvCxnSpPr/>
          <p:nvPr/>
        </p:nvCxnSpPr>
        <p:spPr>
          <a:xfrm>
            <a:off x="1826440" y="4046957"/>
            <a:ext cx="0" cy="504394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36" name="Shape 36"/>
          <p:cNvSpPr/>
          <p:nvPr/>
        </p:nvSpPr>
        <p:spPr>
          <a:xfrm>
            <a:off x="839478" y="4150638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Yes</a:t>
            </a:r>
            <a:endParaRPr lang="en-US" sz="926"/>
          </a:p>
        </p:txBody>
      </p:sp>
      <p:sp>
        <p:nvSpPr>
          <p:cNvPr id="37" name="Shape 37"/>
          <p:cNvSpPr/>
          <p:nvPr/>
        </p:nvSpPr>
        <p:spPr>
          <a:xfrm>
            <a:off x="842870" y="4551352"/>
            <a:ext cx="1975546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38" name="Shape 38"/>
          <p:cNvSpPr/>
          <p:nvPr/>
        </p:nvSpPr>
        <p:spPr>
          <a:xfrm>
            <a:off x="637720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Sync completed tasks</a:t>
            </a:r>
            <a:endParaRPr lang="en-US" sz="1191"/>
          </a:p>
        </p:txBody>
      </p:sp>
      <p:sp>
        <p:nvSpPr>
          <p:cNvPr id="39" name="Shape 39"/>
          <p:cNvSpPr/>
          <p:nvPr/>
        </p:nvSpPr>
        <p:spPr>
          <a:xfrm>
            <a:off x="637720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Upload details and photos</a:t>
            </a:r>
            <a:endParaRPr lang="en-US" sz="926"/>
          </a:p>
        </p:txBody>
      </p:sp>
      <p:cxnSp>
        <p:nvCxnSpPr>
          <p:cNvPr id="40" name="Connector 40"/>
          <p:cNvCxnSpPr/>
          <p:nvPr/>
        </p:nvCxnSpPr>
        <p:spPr>
          <a:xfrm>
            <a:off x="2818416" y="4887615"/>
            <a:ext cx="647306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1" name="Shape 41"/>
          <p:cNvSpPr/>
          <p:nvPr/>
        </p:nvSpPr>
        <p:spPr>
          <a:xfrm>
            <a:off x="3465723" y="4383220"/>
            <a:ext cx="1765381" cy="1008789"/>
          </a:xfrm>
          <a:prstGeom prst="diamond">
            <a:avLst/>
          </a:prstGeom>
          <a:solidFill>
            <a:srgbClr val="E5F3F2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42" name="Shape 42"/>
          <p:cNvSpPr/>
          <p:nvPr/>
        </p:nvSpPr>
        <p:spPr>
          <a:xfrm>
            <a:off x="3159694" y="4663440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Upload</a:t>
            </a:r>
            <a:endParaRPr lang="en-US" sz="1191"/>
          </a:p>
        </p:txBody>
      </p:sp>
      <p:sp>
        <p:nvSpPr>
          <p:cNvPr id="43" name="Shape 43"/>
          <p:cNvSpPr/>
          <p:nvPr/>
        </p:nvSpPr>
        <p:spPr>
          <a:xfrm>
            <a:off x="3159694" y="4856791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successful?</a:t>
            </a:r>
            <a:endParaRPr lang="en-US" sz="1191"/>
          </a:p>
        </p:txBody>
      </p:sp>
      <p:sp>
        <p:nvSpPr>
          <p:cNvPr id="44" name="Shape 44"/>
          <p:cNvSpPr/>
          <p:nvPr/>
        </p:nvSpPr>
        <p:spPr>
          <a:xfrm>
            <a:off x="5886818" y="4551352"/>
            <a:ext cx="1975546" cy="672526"/>
          </a:xfrm>
          <a:prstGeom prst="roundRect">
            <a:avLst/>
          </a:prstGeom>
          <a:solidFill>
            <a:srgbClr val="E7F3FB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45" name="Shape 45"/>
          <p:cNvSpPr/>
          <p:nvPr/>
        </p:nvSpPr>
        <p:spPr>
          <a:xfrm>
            <a:off x="5681668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Cloud task completed</a:t>
            </a:r>
            <a:endParaRPr lang="en-US" sz="1191"/>
          </a:p>
        </p:txBody>
      </p:sp>
      <p:sp>
        <p:nvSpPr>
          <p:cNvPr id="46" name="Shape 46"/>
          <p:cNvSpPr/>
          <p:nvPr/>
        </p:nvSpPr>
        <p:spPr>
          <a:xfrm>
            <a:off x="5681668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Available for admin review</a:t>
            </a:r>
            <a:endParaRPr lang="en-US" sz="926"/>
          </a:p>
        </p:txBody>
      </p:sp>
      <p:cxnSp>
        <p:nvCxnSpPr>
          <p:cNvPr id="47" name="Connector 47"/>
          <p:cNvCxnSpPr/>
          <p:nvPr/>
        </p:nvCxnSpPr>
        <p:spPr>
          <a:xfrm>
            <a:off x="5231105" y="4887615"/>
            <a:ext cx="655713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48" name="Shape 48"/>
          <p:cNvSpPr/>
          <p:nvPr/>
        </p:nvSpPr>
        <p:spPr>
          <a:xfrm>
            <a:off x="4319802" y="4596187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Yes</a:t>
            </a:r>
            <a:endParaRPr lang="en-US" sz="926"/>
          </a:p>
        </p:txBody>
      </p:sp>
      <p:sp>
        <p:nvSpPr>
          <p:cNvPr id="49" name="Shape 49"/>
          <p:cNvSpPr/>
          <p:nvPr/>
        </p:nvSpPr>
        <p:spPr>
          <a:xfrm>
            <a:off x="8408792" y="4551352"/>
            <a:ext cx="1933513" cy="67252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50" name="Shape 50"/>
          <p:cNvSpPr/>
          <p:nvPr/>
        </p:nvSpPr>
        <p:spPr>
          <a:xfrm>
            <a:off x="8186829" y="4655033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Continue with next task</a:t>
            </a:r>
            <a:endParaRPr lang="en-US" sz="1191"/>
          </a:p>
        </p:txBody>
      </p:sp>
      <p:sp>
        <p:nvSpPr>
          <p:cNvPr id="51" name="Shape 51"/>
          <p:cNvSpPr/>
          <p:nvPr/>
        </p:nvSpPr>
        <p:spPr>
          <a:xfrm>
            <a:off x="8186829" y="487360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Or finish the day's work</a:t>
            </a:r>
            <a:endParaRPr lang="en-US" sz="926"/>
          </a:p>
        </p:txBody>
      </p:sp>
      <p:cxnSp>
        <p:nvCxnSpPr>
          <p:cNvPr id="52" name="Connector 52"/>
          <p:cNvCxnSpPr/>
          <p:nvPr/>
        </p:nvCxnSpPr>
        <p:spPr>
          <a:xfrm>
            <a:off x="7862365" y="4887615"/>
            <a:ext cx="546427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3" name="Shape 53"/>
          <p:cNvSpPr/>
          <p:nvPr/>
        </p:nvSpPr>
        <p:spPr>
          <a:xfrm>
            <a:off x="3364844" y="5686240"/>
            <a:ext cx="2774171" cy="546427"/>
          </a:xfrm>
          <a:prstGeom prst="roundRect">
            <a:avLst/>
          </a:prstGeom>
          <a:solidFill>
            <a:srgbClr val="FFF3DF"/>
          </a:solidFill>
          <a:ln w="19050">
            <a:solidFill>
              <a:srgbClr val="008B8B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54" name="Shape 54"/>
          <p:cNvSpPr/>
          <p:nvPr/>
        </p:nvSpPr>
        <p:spPr>
          <a:xfrm>
            <a:off x="3563210" y="5722669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1191" b="0">
                <a:solidFill>
                  <a:srgbClr val="17283E"/>
                </a:solidFill>
                <a:latin typeface="Arial"/>
              </a:rPr>
              <a:t>Keep saved work on device</a:t>
            </a:r>
            <a:endParaRPr lang="en-US" sz="1191"/>
          </a:p>
        </p:txBody>
      </p:sp>
      <p:sp>
        <p:nvSpPr>
          <p:cNvPr id="55" name="Shape 55"/>
          <p:cNvSpPr/>
          <p:nvPr/>
        </p:nvSpPr>
        <p:spPr>
          <a:xfrm>
            <a:off x="3014570" y="591602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Reconnect and retry pending uploads</a:t>
            </a:r>
            <a:endParaRPr lang="en-US" sz="926"/>
          </a:p>
        </p:txBody>
      </p:sp>
      <p:cxnSp>
        <p:nvCxnSpPr>
          <p:cNvPr id="56" name="Connector 56"/>
          <p:cNvCxnSpPr/>
          <p:nvPr/>
        </p:nvCxnSpPr>
        <p:spPr>
          <a:xfrm flipH="1">
            <a:off x="674738" y="3542562"/>
            <a:ext cx="269010" cy="0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7" name="Connector 57"/>
          <p:cNvCxnSpPr/>
          <p:nvPr/>
        </p:nvCxnSpPr>
        <p:spPr>
          <a:xfrm>
            <a:off x="674738" y="3542562"/>
            <a:ext cx="0" cy="2412688"/>
          </a:xfrm>
          <a:prstGeom prst="line">
            <a:avLst/>
          </a:prstGeom>
          <a:ln w="19050">
            <a:solidFill>
              <a:srgbClr val="536B83"/>
            </a:solidFill>
          </a:ln>
        </p:spPr>
      </p:cxnSp>
      <p:cxnSp>
        <p:nvCxnSpPr>
          <p:cNvPr id="58" name="Connector 58"/>
          <p:cNvCxnSpPr/>
          <p:nvPr/>
        </p:nvCxnSpPr>
        <p:spPr>
          <a:xfrm>
            <a:off x="674738" y="5955251"/>
            <a:ext cx="2690105" cy="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59" name="Shape 59"/>
          <p:cNvSpPr/>
          <p:nvPr/>
        </p:nvSpPr>
        <p:spPr>
          <a:xfrm>
            <a:off x="-345849" y="408338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No</a:t>
            </a:r>
            <a:endParaRPr lang="en-US" sz="926"/>
          </a:p>
        </p:txBody>
      </p:sp>
      <p:cxnSp>
        <p:nvCxnSpPr>
          <p:cNvPr id="60" name="Connector 60"/>
          <p:cNvCxnSpPr/>
          <p:nvPr/>
        </p:nvCxnSpPr>
        <p:spPr>
          <a:xfrm>
            <a:off x="4348414" y="5392010"/>
            <a:ext cx="0" cy="294230"/>
          </a:xfrm>
          <a:prstGeom prst="line">
            <a:avLst/>
          </a:prstGeom>
          <a:ln w="19050">
            <a:solidFill>
              <a:srgbClr val="536B83"/>
            </a:solidFill>
            <a:tailEnd type="triangle"/>
          </a:ln>
        </p:spPr>
      </p:cxnSp>
      <p:sp>
        <p:nvSpPr>
          <p:cNvPr id="61" name="Shape 61"/>
          <p:cNvSpPr/>
          <p:nvPr/>
        </p:nvSpPr>
        <p:spPr>
          <a:xfrm>
            <a:off x="3361452" y="5411625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No</a:t>
            </a:r>
            <a:endParaRPr lang="en-US" sz="926"/>
          </a:p>
        </p:txBody>
      </p:sp>
      <p:cxnSp>
        <p:nvCxnSpPr>
          <p:cNvPr id="62" name="Connector 62"/>
          <p:cNvCxnSpPr/>
          <p:nvPr/>
        </p:nvCxnSpPr>
        <p:spPr>
          <a:xfrm flipH="1">
            <a:off x="2986548" y="6081349"/>
            <a:ext cx="378296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3" name="Connector 63"/>
          <p:cNvCxnSpPr/>
          <p:nvPr/>
        </p:nvCxnSpPr>
        <p:spPr>
          <a:xfrm flipV="1">
            <a:off x="2986548" y="5492889"/>
            <a:ext cx="0" cy="58846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4" name="Connector 64"/>
          <p:cNvCxnSpPr/>
          <p:nvPr/>
        </p:nvCxnSpPr>
        <p:spPr>
          <a:xfrm flipH="1">
            <a:off x="1826440" y="5492889"/>
            <a:ext cx="1160108" cy="0"/>
          </a:xfrm>
          <a:prstGeom prst="line">
            <a:avLst/>
          </a:prstGeom>
          <a:ln w="19050">
            <a:solidFill>
              <a:srgbClr val="536B83"/>
            </a:solidFill>
            <a:prstDash val="dash"/>
          </a:ln>
        </p:spPr>
      </p:cxnSp>
      <p:cxnSp>
        <p:nvCxnSpPr>
          <p:cNvPr id="65" name="Connector 65"/>
          <p:cNvCxnSpPr/>
          <p:nvPr/>
        </p:nvCxnSpPr>
        <p:spPr>
          <a:xfrm flipV="1">
            <a:off x="1826440" y="5223878"/>
            <a:ext cx="0" cy="269010"/>
          </a:xfrm>
          <a:prstGeom prst="line">
            <a:avLst/>
          </a:prstGeom>
          <a:ln w="19050">
            <a:solidFill>
              <a:srgbClr val="536B83"/>
            </a:solidFill>
            <a:prstDash val="dash"/>
            <a:tailEnd type="triangle"/>
          </a:ln>
        </p:spPr>
      </p:cxnSp>
      <p:sp>
        <p:nvSpPr>
          <p:cNvPr id="66" name="Shape 66"/>
          <p:cNvSpPr/>
          <p:nvPr/>
        </p:nvSpPr>
        <p:spPr>
          <a:xfrm>
            <a:off x="6553740" y="5638603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Downloaded tasks support offline field work.</a:t>
            </a:r>
            <a:endParaRPr lang="en-US" sz="926"/>
          </a:p>
        </p:txBody>
      </p:sp>
      <p:sp>
        <p:nvSpPr>
          <p:cNvPr id="67" name="Shape 67"/>
          <p:cNvSpPr/>
          <p:nvPr/>
        </p:nvSpPr>
        <p:spPr>
          <a:xfrm>
            <a:off x="6553740" y="5848767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ctr">
            <a:spAutoFit/>
          </a:bodyPr>
          <a:lstStyle/>
          <a:p>
            <a:pPr algn="ctr"/>
            <a:r>
              <a:rPr lang="en-US" sz="926" b="0">
                <a:solidFill>
                  <a:srgbClr val="17283E"/>
                </a:solidFill>
                <a:latin typeface="Arial"/>
              </a:rPr>
              <a:t>GPS / map availability depends on the device and network.</a:t>
            </a:r>
            <a:endParaRPr lang="en-US" sz="926"/>
          </a:p>
        </p:txBody>
      </p:sp>
      <p:sp>
        <p:nvSpPr>
          <p:cNvPr id="68" name="Shape 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69" name="Shape 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7 / 7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NSCA · SYSTEM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From task assignment to completed work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A shared workflow for administrators and drivers, with local storage supporting field work when internet access is unavailable.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Import tasks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Upload a CSV containing customer, location, and job details.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Assign a driver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Select tasks and assign them to the responsible driver.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Download tasks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Load assigned work onto the device for use in the field.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Perform field work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View task details and maps, record the outcome, and capture supporting photos.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Upload completed work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Transfer locally completed task data and photos when connected.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Monitor and report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Review task progress and evidence, then export task reports.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Import → Assign → Download → Perform → Upload → Review &amp; Report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1 / 7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ROLES &amp; INFORMATION FLOW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How the users and system connect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The cloud holds shared task records. The driver device holds downloaded work and completed items awaiting upload.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574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Administrator</a:t>
            </a:r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2286000" y="205740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Import CSV → Assign tasks → Monitor drivers and tasks → Review evidence → Export reports</a:t>
            </a:r>
            <a:endParaRPr lang="en-US" sz="1700"/>
          </a:p>
        </p:txBody>
      </p:sp>
      <p:sp>
        <p:nvSpPr>
          <p:cNvPr id="7" name="Shape 7"/>
          <p:cNvSpPr/>
          <p:nvPr/>
        </p:nvSpPr>
        <p:spPr>
          <a:xfrm>
            <a:off x="548640" y="288036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Cloud system</a:t>
            </a:r>
            <a:endParaRPr lang="en-US" sz="1800"/>
          </a:p>
        </p:txBody>
      </p:sp>
      <p:sp>
        <p:nvSpPr>
          <p:cNvPr id="8" name="Shape 8"/>
          <p:cNvSpPr/>
          <p:nvPr/>
        </p:nvSpPr>
        <p:spPr>
          <a:xfrm>
            <a:off x="2286000" y="288036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Store task records ↔ Exchange task updates with devices</a:t>
            </a:r>
            <a:endParaRPr lang="en-US" sz="1700"/>
          </a:p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Store uploaded photos → Provide completion data for dashboards and reports</a:t>
            </a:r>
            <a:endParaRPr lang="en-US" sz="1700"/>
          </a:p>
        </p:txBody>
      </p:sp>
      <p:sp>
        <p:nvSpPr>
          <p:cNvPr id="9" name="Shape 9"/>
          <p:cNvSpPr/>
          <p:nvPr/>
        </p:nvSpPr>
        <p:spPr>
          <a:xfrm>
            <a:off x="548640" y="370332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Driver</a:t>
            </a:r>
            <a:endParaRPr lang="en-US" sz="1800"/>
          </a:p>
        </p:txBody>
      </p:sp>
      <p:sp>
        <p:nvSpPr>
          <p:cNvPr id="10" name="Shape 10"/>
          <p:cNvSpPr/>
          <p:nvPr/>
        </p:nvSpPr>
        <p:spPr>
          <a:xfrm>
            <a:off x="2286000" y="370332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Select / validate driver ID → Download assigned tasks → Visit location → Record outcome and photos → Upload</a:t>
            </a:r>
            <a:endParaRPr lang="en-US" sz="1700"/>
          </a:p>
        </p:txBody>
      </p:sp>
      <p:sp>
        <p:nvSpPr>
          <p:cNvPr id="11" name="Shape 11"/>
          <p:cNvSpPr/>
          <p:nvPr/>
        </p:nvSpPr>
        <p:spPr>
          <a:xfrm>
            <a:off x="548640" y="452628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800" b="1">
                <a:solidFill>
                  <a:srgbClr val="007E80"/>
                </a:solidFill>
                <a:latin typeface="Arial"/>
              </a:rPr>
              <a:t>Device storage</a:t>
            </a:r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2286000" y="4526280"/>
            <a:ext cx="9326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17283E"/>
                </a:solidFill>
                <a:latin typeface="Arial"/>
              </a:rPr>
              <a:t>Keep downloaded tasks → Save field completion locally → Retain work awaiting successful transfer</a:t>
            </a:r>
            <a:endParaRPr lang="en-US" sz="1700"/>
          </a:p>
        </p:txBody>
      </p:sp>
      <p:sp>
        <p:nvSpPr>
          <p:cNvPr id="13" name="Shape 1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Shared visibility: task status, completion details, supporting photos, and driver location updates when available.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5" name="Shape 1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2 / 7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OFFLINE WORK &amp; COMPLETION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Field completion continues without internet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After downloading tasks, the driver records completed work on the device. A local completion becomes a shared cloud completion after a successful upload.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543153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5157216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Upload to the cloud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5157216" cy="2706624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Transfer task details and photos. Successful transfer marks the shared task completed, making it available for admin review and reporting.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6181343" y="2039112"/>
            <a:ext cx="5431536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6318503" y="2167128"/>
            <a:ext cx="5157216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Keep work on the device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6318503" y="2706624"/>
            <a:ext cx="5157216" cy="2706624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Retain the local completion. Restore connectivity and retry the upload. Recovery tools can restore saved completion backups if needed.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548640" y="4160520"/>
            <a:ext cx="11064240" cy="1417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 dirty="0">
                <a:solidFill>
                  <a:srgbClr val="526278"/>
                </a:solidFill>
                <a:latin typeface="Arial"/>
              </a:rPr>
              <a:t>Presentation status flow: Assigned / pending → Downloaded → Completed locally → Uploaded / completed</a:t>
            </a:r>
            <a:endParaRPr lang="en-US" sz="1600" dirty="0"/>
          </a:p>
          <a:p>
            <a:pPr algn="l"/>
            <a:r>
              <a:rPr lang="en-US" sz="1600" b="0" dirty="0">
                <a:solidFill>
                  <a:srgbClr val="526278"/>
                </a:solidFill>
                <a:latin typeface="Arial"/>
              </a:rPr>
              <a:t>The driver stores unsent completion as LOCAL_COMPLETED; successful cloud completion uses COMPLETED. A task saved only on the device still needs transfer before it appears as completed in shared reports.</a:t>
            </a:r>
            <a:endParaRPr lang="en-US" sz="1600" dirty="0"/>
          </a:p>
        </p:txBody>
      </p:sp>
      <p:sp>
        <p:nvSpPr>
          <p:cNvPr id="12" name="Shape 12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Downloaded task → Record outcome &amp; photos → Save locally → Check connectivity</a:t>
            </a:r>
            <a:endParaRPr lang="en-US" sz="1600"/>
          </a:p>
        </p:txBody>
      </p:sp>
      <p:sp>
        <p:nvSpPr>
          <p:cNvPr id="13" name="Shape 13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4" name="Shape 14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3 / 7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MONITORING &amp; OPERATIONAL VISIBILITY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See driver activity, workload, and progress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Three dashboard views help administrators locate drivers, compare outstanding work, and track completion across days.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Where are drivers?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2706624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View reported GPS locations and driver activity. Select a driver to inspect their location and open tasks.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Activity reflects the latest driver update; location refreshes depend on GPS and connectivity.</a:t>
            </a:r>
            <a:endParaRPr lang="en-US" sz="14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How much work remains?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26863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400" b="0" dirty="0">
                <a:solidFill>
                  <a:srgbClr val="526278"/>
                </a:solidFill>
                <a:latin typeface="Arial"/>
              </a:rPr>
              <a:t>Compare each driver's For Download, Pending, and Completed counts using the summary table and stacked workload bars.</a:t>
            </a:r>
          </a:p>
          <a:p>
            <a:pPr algn="l"/>
            <a:endParaRPr lang="en-US" sz="1400" dirty="0">
              <a:solidFill>
                <a:srgbClr val="526278"/>
              </a:solidFill>
              <a:latin typeface="Arial"/>
            </a:endParaRPr>
          </a:p>
          <a:p>
            <a:pPr algn="l"/>
            <a:endParaRPr lang="en-US" sz="1400" dirty="0">
              <a:solidFill>
                <a:srgbClr val="526278"/>
              </a:solidFill>
              <a:latin typeface="Arial"/>
            </a:endParaRPr>
          </a:p>
          <a:p>
            <a:pPr algn="l"/>
            <a:endParaRPr lang="en-US" sz="1400" dirty="0"/>
          </a:p>
          <a:p>
            <a:pPr algn="l"/>
            <a:r>
              <a:rPr lang="en-US" sz="1400" b="0" dirty="0">
                <a:solidFill>
                  <a:srgbClr val="526278"/>
                </a:solidFill>
                <a:latin typeface="Arial"/>
              </a:rPr>
              <a:t>Blue: For Download · Amber: Pending · Green: Completed</a:t>
            </a:r>
            <a:endParaRPr lang="en-US" sz="1400" dirty="0"/>
          </a:p>
          <a:p>
            <a:pPr algn="l"/>
            <a:r>
              <a:rPr lang="en-US" sz="1400" b="0" dirty="0">
                <a:solidFill>
                  <a:srgbClr val="526278"/>
                </a:solidFill>
                <a:latin typeface="Arial"/>
              </a:rPr>
              <a:t>A second graph shows completed tasks by hour in Philippine time. BA and job-type filters narrow the view.</a:t>
            </a:r>
            <a:endParaRPr lang="en-US" sz="1400" dirty="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How is progress changing?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2706624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View a seven-day grid by driver and task-created date. Each cell shows completed tasks ÷ total tasks as a percentage.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Gray: No tasks · Red: &lt;50% · Amber: 50–79% · Light green: 80–99% · Green: 100%</a:t>
            </a:r>
            <a:endParaRPr lang="en-US" sz="1400"/>
          </a:p>
          <a:p>
            <a:pPr algn="l"/>
            <a:r>
              <a:rPr lang="en-US" sz="1400" b="0">
                <a:solidFill>
                  <a:srgbClr val="526278"/>
                </a:solidFill>
                <a:latin typeface="Arial"/>
              </a:rPr>
              <a:t>Browse previous periods and refresh to review recent progress.</a:t>
            </a:r>
            <a:endParaRPr lang="en-US" sz="1400"/>
          </a:p>
        </p:txBody>
      </p:sp>
      <p:sp>
        <p:nvSpPr>
          <p:cNvPr id="14" name="Shape 14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Driver location updates → Live map  |  Shared task records → Summary &amp; graphs → Completion heatmap → Admin follow-up</a:t>
            </a:r>
            <a:endParaRPr lang="en-US" sz="1600"/>
          </a:p>
        </p:txBody>
      </p:sp>
      <p:sp>
        <p:nvSpPr>
          <p:cNvPr id="15" name="Shape 15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16" name="Shape 16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4 / 7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2286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100" b="1">
                <a:solidFill>
                  <a:srgbClr val="007E80"/>
                </a:solidFill>
                <a:latin typeface="Arial"/>
              </a:rPr>
              <a:t>DRIVER APP FEATURES</a:t>
            </a:r>
            <a:endParaRPr lang="en-US" sz="1100"/>
          </a:p>
        </p:txBody>
      </p:sp>
      <p:sp>
        <p:nvSpPr>
          <p:cNvPr id="3" name="Shape 3"/>
          <p:cNvSpPr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900" b="1">
                <a:solidFill>
                  <a:srgbClr val="17283E"/>
                </a:solidFill>
                <a:latin typeface="Arial"/>
              </a:rPr>
              <a:t>A field workspace for every assigned task</a:t>
            </a:r>
            <a:endParaRPr lang="en-US" sz="2900"/>
          </a:p>
        </p:txBody>
      </p:sp>
      <p:sp>
        <p:nvSpPr>
          <p:cNvPr id="4" name="Shape 4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700" b="0">
                <a:solidFill>
                  <a:srgbClr val="526278"/>
                </a:solidFill>
                <a:latin typeface="Arial"/>
              </a:rPr>
              <a:t>Drivers can find their assignments, record work on site, and transfer completed results back to the administrator.</a:t>
            </a:r>
            <a:endParaRPr lang="en-US" sz="1700"/>
          </a:p>
        </p:txBody>
      </p:sp>
      <p:sp>
        <p:nvSpPr>
          <p:cNvPr id="5" name="Shape 5"/>
          <p:cNvSpPr/>
          <p:nvPr/>
        </p:nvSpPr>
        <p:spPr>
          <a:xfrm>
            <a:off x="548640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6" name="Shape 6"/>
          <p:cNvSpPr/>
          <p:nvPr/>
        </p:nvSpPr>
        <p:spPr>
          <a:xfrm>
            <a:off x="685800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Download assignments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85800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a validated driver ID, select a date, and download assigned tasks. Task counters show available work.</a:t>
            </a:r>
            <a:endParaRPr lang="en-US" sz="1600"/>
          </a:p>
        </p:txBody>
      </p:sp>
      <p:sp>
        <p:nvSpPr>
          <p:cNvPr id="8" name="Shape 8"/>
          <p:cNvSpPr/>
          <p:nvPr/>
        </p:nvSpPr>
        <p:spPr>
          <a:xfrm>
            <a:off x="4303775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9" name="Shape 9"/>
          <p:cNvSpPr/>
          <p:nvPr/>
        </p:nvSpPr>
        <p:spPr>
          <a:xfrm>
            <a:off x="4440936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Search, filter &amp; scan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4440936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Search task records, filter by date and job type, or scan a QR code to find the matching task.</a:t>
            </a:r>
            <a:endParaRPr lang="en-US" sz="1600"/>
          </a:p>
        </p:txBody>
      </p:sp>
      <p:sp>
        <p:nvSpPr>
          <p:cNvPr id="11" name="Shape 11"/>
          <p:cNvSpPr/>
          <p:nvPr/>
        </p:nvSpPr>
        <p:spPr>
          <a:xfrm>
            <a:off x="8058911" y="2039112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2" name="Shape 12"/>
          <p:cNvSpPr/>
          <p:nvPr/>
        </p:nvSpPr>
        <p:spPr>
          <a:xfrm>
            <a:off x="8196072" y="2167128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Task map &amp; GPS</a:t>
            </a:r>
            <a:endParaRPr lang="en-US" sz="2000"/>
          </a:p>
        </p:txBody>
      </p:sp>
      <p:sp>
        <p:nvSpPr>
          <p:cNvPr id="13" name="Shape 13"/>
          <p:cNvSpPr/>
          <p:nvPr/>
        </p:nvSpPr>
        <p:spPr>
          <a:xfrm>
            <a:off x="8196072" y="2706624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View tasks on a map, explore task clusters, and center on My Location. GPS activity updates support admin monitoring when connected.</a:t>
            </a:r>
            <a:endParaRPr lang="en-US" sz="1600"/>
          </a:p>
        </p:txBody>
      </p:sp>
      <p:sp>
        <p:nvSpPr>
          <p:cNvPr id="14" name="Shape 14"/>
          <p:cNvSpPr/>
          <p:nvPr/>
        </p:nvSpPr>
        <p:spPr>
          <a:xfrm>
            <a:off x="548640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5" name="Shape 15"/>
          <p:cNvSpPr/>
          <p:nvPr/>
        </p:nvSpPr>
        <p:spPr>
          <a:xfrm>
            <a:off x="685800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Details &amp; photo evidence</a:t>
            </a:r>
            <a:endParaRPr lang="en-US" sz="2000"/>
          </a:p>
        </p:txBody>
      </p:sp>
      <p:sp>
        <p:nvSpPr>
          <p:cNvPr id="16" name="Shape 16"/>
          <p:cNvSpPr/>
          <p:nvPr/>
        </p:nvSpPr>
        <p:spPr>
          <a:xfrm>
            <a:off x="685800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Open customer and job details, fill in the configured completion fields, and capture supporting photos before submitting.</a:t>
            </a:r>
            <a:endParaRPr lang="en-US" sz="1600"/>
          </a:p>
        </p:txBody>
      </p:sp>
      <p:sp>
        <p:nvSpPr>
          <p:cNvPr id="17" name="Shape 17"/>
          <p:cNvSpPr/>
          <p:nvPr/>
        </p:nvSpPr>
        <p:spPr>
          <a:xfrm>
            <a:off x="4303775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18" name="Shape 18"/>
          <p:cNvSpPr/>
          <p:nvPr/>
        </p:nvSpPr>
        <p:spPr>
          <a:xfrm>
            <a:off x="4440936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Save on the device</a:t>
            </a:r>
            <a:endParaRPr lang="en-US" sz="2000"/>
          </a:p>
        </p:txBody>
      </p:sp>
      <p:sp>
        <p:nvSpPr>
          <p:cNvPr id="19" name="Shape 19"/>
          <p:cNvSpPr/>
          <p:nvPr/>
        </p:nvSpPr>
        <p:spPr>
          <a:xfrm>
            <a:off x="4440936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Use previously downloaded tasks and save completion data and photos locally. The offline indicator shows connectivity status.</a:t>
            </a:r>
            <a:endParaRPr lang="en-US" sz="1600"/>
          </a:p>
        </p:txBody>
      </p:sp>
      <p:sp>
        <p:nvSpPr>
          <p:cNvPr id="20" name="Shape 20"/>
          <p:cNvSpPr/>
          <p:nvPr/>
        </p:nvSpPr>
        <p:spPr>
          <a:xfrm>
            <a:off x="8058911" y="3977639"/>
            <a:ext cx="3553968" cy="17556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E0EC"/>
            </a:solidFill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endParaRPr lang="en-US" sz="1800"/>
          </a:p>
        </p:txBody>
      </p:sp>
      <p:sp>
        <p:nvSpPr>
          <p:cNvPr id="21" name="Shape 21"/>
          <p:cNvSpPr/>
          <p:nvPr/>
        </p:nvSpPr>
        <p:spPr>
          <a:xfrm>
            <a:off x="8196072" y="4105655"/>
            <a:ext cx="3279648" cy="4572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2000" b="1">
                <a:solidFill>
                  <a:srgbClr val="007E80"/>
                </a:solidFill>
                <a:latin typeface="Arial"/>
              </a:rPr>
              <a:t>Sync, retry &amp; backup</a:t>
            </a:r>
            <a:endParaRPr lang="en-US" sz="2000"/>
          </a:p>
        </p:txBody>
      </p:sp>
      <p:sp>
        <p:nvSpPr>
          <p:cNvPr id="22" name="Shape 22"/>
          <p:cNvSpPr/>
          <p:nvPr/>
        </p:nvSpPr>
        <p:spPr>
          <a:xfrm>
            <a:off x="8196072" y="4645152"/>
            <a:ext cx="3279648" cy="987552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526278"/>
                </a:solidFill>
                <a:latin typeface="Arial"/>
              </a:rPr>
              <a:t>Sync completed tasks, see upload progress and success/failure counts, and retry pending uploads. Completion backup files support recovery.</a:t>
            </a:r>
            <a:endParaRPr lang="en-US" sz="1600"/>
          </a:p>
        </p:txBody>
      </p:sp>
      <p:sp>
        <p:nvSpPr>
          <p:cNvPr id="23" name="Shape 23"/>
          <p:cNvSpPr/>
          <p:nvPr/>
        </p:nvSpPr>
        <p:spPr>
          <a:xfrm>
            <a:off x="548640" y="5925312"/>
            <a:ext cx="11064240" cy="512064"/>
          </a:xfrm>
          <a:prstGeom prst="roundRect">
            <a:avLst/>
          </a:prstGeom>
          <a:solidFill>
            <a:srgbClr val="172E4B"/>
          </a:solidFill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600" b="0">
                <a:solidFill>
                  <a:srgbClr val="FFFFFF"/>
                </a:solidFill>
                <a:latin typeface="Arial"/>
              </a:rPr>
              <a:t>Download → Search / Scan → Locate → Record &amp; Capture → Save locally → Sync</a:t>
            </a:r>
            <a:endParaRPr lang="en-US" sz="1600"/>
          </a:p>
        </p:txBody>
      </p:sp>
      <p:sp>
        <p:nvSpPr>
          <p:cNvPr id="24" name="Shape 24"/>
          <p:cNvSpPr/>
          <p:nvPr/>
        </p:nvSpPr>
        <p:spPr>
          <a:xfrm>
            <a:off x="548640" y="6510528"/>
            <a:ext cx="10515600" cy="201168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NSCA · Task Administration · System &amp; Driver App</a:t>
            </a:r>
            <a:endParaRPr lang="en-US" sz="1000"/>
          </a:p>
        </p:txBody>
      </p:sp>
      <p:sp>
        <p:nvSpPr>
          <p:cNvPr id="25" name="Shape 25"/>
          <p:cNvSpPr/>
          <p:nvPr/>
        </p:nvSpPr>
        <p:spPr>
          <a:xfrm>
            <a:off x="11064240" y="6492240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wrap="square" lIns="70000" tIns="50000" rIns="70000" bIns="50000" anchor="t">
            <a:spAutoFit/>
          </a:bodyPr>
          <a:lstStyle/>
          <a:p>
            <a:pPr algn="l"/>
            <a:r>
              <a:rPr lang="en-US" sz="1000" b="0">
                <a:solidFill>
                  <a:srgbClr val="607087"/>
                </a:solidFill>
                <a:latin typeface="Arial"/>
              </a:rPr>
              <a:t>6 / 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</Words>
  <Application>Microsoft Office PowerPoint</Application>
  <PresentationFormat>Widescreen</PresentationFormat>
  <Paragraphs>158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Ross Nitura</cp:lastModifiedBy>
  <cp:revision>1</cp:revision>
  <dcterms:modified xsi:type="dcterms:W3CDTF">2026-10-09T10:52:25Z</dcterms:modified>
</cp:coreProperties>
</file>